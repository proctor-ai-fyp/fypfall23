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c96a03f34a4483" /><Relationship Type="http://schemas.openxmlformats.org/officeDocument/2006/relationships/extended-properties" Target="/docProps/app.xml" Id="Rcfe545776aed45ad" /><Relationship Type="http://schemas.openxmlformats.org/officeDocument/2006/relationships/officeDocument" Target="/ppt/presentation.xml" Id="R848be249fd464ea4" /></Relationships>
</file>

<file path=ppt/presentation.xml><?xml version="1.0" encoding="utf-8"?>
<p:presentation xmlns:p="http://schemas.openxmlformats.org/presentationml/2006/main">
  <p:sldMasterIdLst>
    <p:sldMasterId xmlns:r="http://schemas.openxmlformats.org/officeDocument/2006/relationships" id="2147483648" r:id="Rda08db0c8fee4a62"/>
  </p:sldMasterIdLst>
  <p:notesMasterIdLst>
    <p:notesMasterId xmlns:r="http://schemas.openxmlformats.org/officeDocument/2006/relationships" r:id="Rf791c3b80b704545"/>
  </p:notesMasterIdLst>
  <p:sldIdLst>
    <p:sldId xmlns:r="http://schemas.openxmlformats.org/officeDocument/2006/relationships" id="256" r:id="R4d15526ba20f4057"/>
    <p:sldId xmlns:r="http://schemas.openxmlformats.org/officeDocument/2006/relationships" id="257" r:id="Re9ea8f7f5af845f4"/>
    <p:sldId xmlns:r="http://schemas.openxmlformats.org/officeDocument/2006/relationships" id="258" r:id="R36d91ac9e3874a9b"/>
    <p:sldId xmlns:r="http://schemas.openxmlformats.org/officeDocument/2006/relationships" id="259" r:id="R9262c04d6ec2418f"/>
    <p:sldId xmlns:r="http://schemas.openxmlformats.org/officeDocument/2006/relationships" id="260" r:id="R677c057499a3488d"/>
    <p:sldId xmlns:r="http://schemas.openxmlformats.org/officeDocument/2006/relationships" id="261" r:id="R5ddee2fc676143ee"/>
    <p:sldId xmlns:r="http://schemas.openxmlformats.org/officeDocument/2006/relationships" id="262" r:id="Rbc108e651411470f"/>
    <p:sldId xmlns:r="http://schemas.openxmlformats.org/officeDocument/2006/relationships" id="263" r:id="Rc4925d934d6a4335"/>
    <p:sldId xmlns:r="http://schemas.openxmlformats.org/officeDocument/2006/relationships" id="264" r:id="R2c05d95ca2c14400"/>
    <p:sldId xmlns:r="http://schemas.openxmlformats.org/officeDocument/2006/relationships" id="265" r:id="Rc5aa1ca4b5374422"/>
    <p:sldId xmlns:r="http://schemas.openxmlformats.org/officeDocument/2006/relationships" id="266" r:id="Ra45a14bb121c4ba8"/>
    <p:sldId xmlns:r="http://schemas.openxmlformats.org/officeDocument/2006/relationships" id="267" r:id="R58d9b1b602d94870"/>
    <p:sldId xmlns:r="http://schemas.openxmlformats.org/officeDocument/2006/relationships" id="268" r:id="R6b714e9fca9d4741"/>
    <p:sldId xmlns:r="http://schemas.openxmlformats.org/officeDocument/2006/relationships" id="269" r:id="R1723e8dede5f47c8"/>
    <p:sldId xmlns:r="http://schemas.openxmlformats.org/officeDocument/2006/relationships" id="270" r:id="Rca3f61205d3f472d"/>
    <p:sldId xmlns:r="http://schemas.openxmlformats.org/officeDocument/2006/relationships" id="271" r:id="Rf3022e4ab45b47c6"/>
    <p:sldId xmlns:r="http://schemas.openxmlformats.org/officeDocument/2006/relationships" id="272" r:id="R6a8f779ebf484c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7a3708a74140f8" /><Relationship Type="http://schemas.openxmlformats.org/officeDocument/2006/relationships/slideMaster" Target="/ppt/slideMasters/slideMaster1.xml" Id="Rda08db0c8fee4a62" /><Relationship Type="http://schemas.openxmlformats.org/officeDocument/2006/relationships/notesMaster" Target="/ppt/notesMasters/notesMaster1.xml" Id="Rf791c3b80b704545" /><Relationship Type="http://schemas.openxmlformats.org/officeDocument/2006/relationships/presProps" Target="/ppt/presProps.xml" Id="Recac5c2c5c8a47ba" /><Relationship Type="http://schemas.openxmlformats.org/officeDocument/2006/relationships/tableStyles" Target="/ppt/tableStyles.xml" Id="R782c6981acdd4e1f" /><Relationship Type="http://schemas.openxmlformats.org/officeDocument/2006/relationships/slide" Target="/ppt/slides/slide1.xml" Id="R4d15526ba20f4057" /><Relationship Type="http://schemas.openxmlformats.org/officeDocument/2006/relationships/slide" Target="/ppt/slides/slide2.xml" Id="Re9ea8f7f5af845f4" /><Relationship Type="http://schemas.openxmlformats.org/officeDocument/2006/relationships/slide" Target="/ppt/slides/slide3.xml" Id="R36d91ac9e3874a9b" /><Relationship Type="http://schemas.openxmlformats.org/officeDocument/2006/relationships/slide" Target="/ppt/slides/slide4.xml" Id="R9262c04d6ec2418f" /><Relationship Type="http://schemas.openxmlformats.org/officeDocument/2006/relationships/slide" Target="/ppt/slides/slide5.xml" Id="R677c057499a3488d" /><Relationship Type="http://schemas.openxmlformats.org/officeDocument/2006/relationships/slide" Target="/ppt/slides/slide6.xml" Id="R5ddee2fc676143ee" /><Relationship Type="http://schemas.openxmlformats.org/officeDocument/2006/relationships/slide" Target="/ppt/slides/slide7.xml" Id="Rbc108e651411470f" /><Relationship Type="http://schemas.openxmlformats.org/officeDocument/2006/relationships/slide" Target="/ppt/slides/slide8.xml" Id="Rc4925d934d6a4335" /><Relationship Type="http://schemas.openxmlformats.org/officeDocument/2006/relationships/slide" Target="/ppt/slides/slide9.xml" Id="R2c05d95ca2c14400" /><Relationship Type="http://schemas.openxmlformats.org/officeDocument/2006/relationships/slide" Target="/ppt/slides/slide10.xml" Id="Rc5aa1ca4b5374422" /><Relationship Type="http://schemas.openxmlformats.org/officeDocument/2006/relationships/slide" Target="/ppt/slides/slide11.xml" Id="Ra45a14bb121c4ba8" /><Relationship Type="http://schemas.openxmlformats.org/officeDocument/2006/relationships/slide" Target="/ppt/slides/slide12.xml" Id="R58d9b1b602d94870" /><Relationship Type="http://schemas.openxmlformats.org/officeDocument/2006/relationships/slide" Target="/ppt/slides/slide13.xml" Id="R6b714e9fca9d4741" /><Relationship Type="http://schemas.openxmlformats.org/officeDocument/2006/relationships/slide" Target="/ppt/slides/slide14.xml" Id="R1723e8dede5f47c8" /><Relationship Type="http://schemas.openxmlformats.org/officeDocument/2006/relationships/slide" Target="/ppt/slides/slide15.xml" Id="Rca3f61205d3f472d" /><Relationship Type="http://schemas.openxmlformats.org/officeDocument/2006/relationships/slide" Target="/ppt/slides/slide16.xml" Id="Rf3022e4ab45b47c6" /><Relationship Type="http://schemas.openxmlformats.org/officeDocument/2006/relationships/slide" Target="/ppt/slides/slide17.xml" Id="R6a8f779ebf484c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d4778ec9ca47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22fc650ea64f90" /><Relationship Type="http://schemas.openxmlformats.org/officeDocument/2006/relationships/notesMaster" Target="/ppt/notesMasters/notesMaster1.xml" Id="R48b8a524162e44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2e2bd3ca9d498d" /><Relationship Type="http://schemas.openxmlformats.org/officeDocument/2006/relationships/notesMaster" Target="/ppt/notesMasters/notesMaster1.xml" Id="Rb5ff240ba7c248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36f5fa780541d5" /><Relationship Type="http://schemas.openxmlformats.org/officeDocument/2006/relationships/notesMaster" Target="/ppt/notesMasters/notesMaster1.xml" Id="R0436333704ff45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e895350f8a42ec" /><Relationship Type="http://schemas.openxmlformats.org/officeDocument/2006/relationships/notesMaster" Target="/ppt/notesMasters/notesMaster1.xml" Id="Rf58e6a06042c4d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54c4d125b84122" /><Relationship Type="http://schemas.openxmlformats.org/officeDocument/2006/relationships/notesMaster" Target="/ppt/notesMasters/notesMaster1.xml" Id="R2a56ede9caba42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e8a4ef463b4de7" /><Relationship Type="http://schemas.openxmlformats.org/officeDocument/2006/relationships/notesMaster" Target="/ppt/notesMasters/notesMaster1.xml" Id="R9096f25aa9ec4d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1582d8163b4f26" /><Relationship Type="http://schemas.openxmlformats.org/officeDocument/2006/relationships/notesMaster" Target="/ppt/notesMasters/notesMaster1.xml" Id="R729742e70ad043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47e13f3902466e" /><Relationship Type="http://schemas.openxmlformats.org/officeDocument/2006/relationships/notesMaster" Target="/ppt/notesMasters/notesMaster1.xml" Id="R5ca9abf851cb49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b70c050a7e4e2c" /><Relationship Type="http://schemas.openxmlformats.org/officeDocument/2006/relationships/notesMaster" Target="/ppt/notesMasters/notesMaster1.xml" Id="R49ef767bd3664c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fcdd32ef9f46d8" /><Relationship Type="http://schemas.openxmlformats.org/officeDocument/2006/relationships/notesMaster" Target="/ppt/notesMasters/notesMaster1.xml" Id="Rf1c9e884458244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511cbf2548401c" /><Relationship Type="http://schemas.openxmlformats.org/officeDocument/2006/relationships/notesMaster" Target="/ppt/notesMasters/notesMaster1.xml" Id="R771e2941e31448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9b895d38044d7e" /><Relationship Type="http://schemas.openxmlformats.org/officeDocument/2006/relationships/notesMaster" Target="/ppt/notesMasters/notesMaster1.xml" Id="Rf6e8592be26941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09cb4e711f4c6c" /><Relationship Type="http://schemas.openxmlformats.org/officeDocument/2006/relationships/notesMaster" Target="/ppt/notesMasters/notesMaster1.xml" Id="Rcadb7ef8455b43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42d79ee89e42f1" /><Relationship Type="http://schemas.openxmlformats.org/officeDocument/2006/relationships/notesMaster" Target="/ppt/notesMasters/notesMaster1.xml" Id="Rca8c4752d4c3456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1cc604c27b4bf9" /><Relationship Type="http://schemas.openxmlformats.org/officeDocument/2006/relationships/notesMaster" Target="/ppt/notesMasters/notesMaster1.xml" Id="R88690671f8464f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f0fbd8b0e7427d" /><Relationship Type="http://schemas.openxmlformats.org/officeDocument/2006/relationships/notesMaster" Target="/ppt/notesMasters/notesMaster1.xml" Id="Ra21d345b73f346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940174054b40d8" /><Relationship Type="http://schemas.openxmlformats.org/officeDocument/2006/relationships/notesMaster" Target="/ppt/notesMasters/notesMaster1.xml" Id="Ra6cf174f62614f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Introduce the group and project. Explain that this presentation describes the work completed so far, with a working local demonstration and an explicit remaining-work plan. Ali Asghar's registration number comes from the submitted scope document. Suggested presentation duration: 10–12 minutes, plus a short demonstration.</a:t>
            </a:r>
          </a:p>
          <a:p xmlns:a="http://schemas.openxmlformats.org/drawingml/2006/main">
            <a:r>
              <a:t/>
            </a:r>
          </a:p>
          <a:p xmlns:a="http://schemas.openxmlformats.org/drawingml/2006/main">
            <a:r>
              <a:t>SOURCE RECORD</a:t>
            </a:r>
          </a:p>
          <a:p xmlns:a="http://schemas.openxmlformats.org/drawingml/2006/main">
            <a:r>
              <a:t>Scope: C:/Users/ahmar/Downloads/ProctorAI_Scope_Document.docx</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project helps an invigilator identify events that deserve attention, keep evidence, and route the record to the right decision-maker. Do not describe a detected movement as proof of cheating. No external statistics are used on this slide.</a:t>
            </a:r>
          </a:p>
          <a:p xmlns:a="http://schemas.openxmlformats.org/drawingml/2006/main">
            <a:r>
              <a:t/>
            </a:r>
          </a:p>
          <a:p xmlns:a="http://schemas.openxmlformats.org/drawingml/2006/main">
            <a:r>
              <a:t>SOURCE RECORD</a:t>
            </a:r>
          </a:p>
          <a:p xmlns:a="http://schemas.openxmlformats.org/drawingml/2006/main">
            <a:r>
              <a:t>Scope: C:/Users/ahmar/Downloads/ProctorAI_Scope_Document.docx; sections 3–5</a:t>
            </a:r>
          </a:p>
          <a:p xmlns:a="http://schemas.openxmlformats.org/drawingml/2006/main">
            <a:r>
              <a:t>Implementation and recorded checks: D:/FYP_fall_23/backend/LOCAL_PLATFORM.md</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original MVP scope is a single physical exam room. The present capture integration monitors a selected registered seat and one clearly visible student, not every face in a hall. Multi-student room attribution remains work within the original scope; multi-camera, audio, facial registry matching and SIS integration are later extensions.</a:t>
            </a:r>
          </a:p>
          <a:p xmlns:a="http://schemas.openxmlformats.org/drawingml/2006/main">
            <a:r>
              <a:t/>
            </a:r>
          </a:p>
          <a:p xmlns:a="http://schemas.openxmlformats.org/drawingml/2006/main">
            <a:r>
              <a:t>SOURCE RECORD</a:t>
            </a:r>
          </a:p>
          <a:p xmlns:a="http://schemas.openxmlformats.org/drawingml/2006/main">
            <a:r>
              <a:t>Scope: C:/Users/ahmar/Downloads/ProctorAI_Scope_Document.docx; section 5</a:t>
            </a:r>
          </a:p>
          <a:p xmlns:a="http://schemas.openxmlformats.org/drawingml/2006/main">
            <a:r>
              <a:t>Implementation and recorded checks: D:/FYP_fall_23/backend/LOCAL_PLATFORM.md; Evidence and detector limits</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These are the practical objectives. The full scope also includes gaze, lip movement, a physical alert device, branded PDF notices and email delivery. Those items are not presented as completed. Quantitative success targets appear in the appendix and still require the controlled evaluation.</a:t>
            </a:r>
          </a:p>
          <a:p xmlns:a="http://schemas.openxmlformats.org/drawingml/2006/main">
            <a:r>
              <a:t/>
            </a:r>
          </a:p>
          <a:p xmlns:a="http://schemas.openxmlformats.org/drawingml/2006/main">
            <a:r>
              <a:t>SOURCE RECORD</a:t>
            </a:r>
          </a:p>
          <a:p xmlns:a="http://schemas.openxmlformats.org/drawingml/2006/main">
            <a:r>
              <a:t>Scope: C:/Users/ahmar/Downloads/ProctorAI_Scope_Document.docx; objectives and evaluation criteria</a:t>
            </a:r>
          </a:p>
          <a:p xmlns:a="http://schemas.openxmlformats.org/drawingml/2006/main">
            <a:r>
              <a:t>Implementation and recorded checks: D:/FYP_fall_23/backend/LOCAL_PLATFORM.md</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frontend uses REST for permitted records and Socket.IO change events for refresh. The backend stores data in PostgreSQL and uses Redis for state and messaging support. The current default phone/book model is Grounding DINO Tiny; the original proposal named YOLOv8. Head pose uses MediaPipe Face Landmarker transformations rather than the earlier six-point PnP method. This architecture table describes the implemented stack, not the proposal's older version numbers.</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Detector implementation and validation: D:/FYP_fall_23/ai-engine/README.md</a:t>
            </a:r>
          </a:p>
          <a:p xmlns:a="http://schemas.openxmlformats.org/drawingml/2006/main">
            <a:r>
              <a:t>Head-pose validation: D:/FYP_fall_23/ai-engine/HEAD_POSE_VALIDATION.md</a:t>
            </a:r>
          </a:p>
          <a:p xmlns:a="http://schemas.openxmlformats.org/drawingml/2006/main">
            <a:r>
              <a:t>Notice service: D:/FYP_fall_23/backend/app/services/notices.py</a:t>
            </a:r>
          </a:p>
          <a:p xmlns:a="http://schemas.openxmlformats.org/drawingml/2006/main">
            <a:r>
              <a:t>MQTT connector: D:/FYP_fall_23/backend/app/services/mqtt.py</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Explain the visible phone and book boxes and the teacher alert inbox. This is a recorded browser acceptance test using real models, the same application pages and disposable accounts. Phones and books are the only enabled object policy. Preview rates around 10–16 FPS were observed across recorded and webcam checks; that is not the neural inference speed. New objects need several seconds and multiple model observations to confirm. Visibility, distance, orientation and lighting affect detection. The displayed 93% and 77% values are model confidence, not measured accuracy.</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Detector implementation and validation: D:/FYP_fall_23/ai-engine/README.md</a:t>
            </a:r>
          </a:p>
          <a:p xmlns:a="http://schemas.openxmlformats.org/drawingml/2006/main">
            <a:r>
              <a:t>Screenshot: D:\FYP_fall_23\ai-engine\validation-output\platform\real-model-monitor.png</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previous incorrect angle estimator was replaced with the MediaPipe canonical face transformation, a stable rotation calculation and neutral calibration. Yaw beyond either 30-degree side or pitch below minus 20 degrees must persist for two seconds. Smoothing and hysteresis reduce flicker; missing faces clear stale angles. Earlier guided webcam checks verified neutral posture and both sideways directions. The downward webcam check was inconclusive because the face became occluded. Geometry and timing regression tests cover pitch. The final integrated browser run verified neutral calibration but not a fresh live sideways warning, at the user's request. This screenshot comes from the earlier webcam validation, not the final role-based monitor.</a:t>
            </a:r>
          </a:p>
          <a:p xmlns:a="http://schemas.openxmlformats.org/drawingml/2006/main">
            <a:r>
              <a:t/>
            </a:r>
          </a:p>
          <a:p xmlns:a="http://schemas.openxmlformats.org/drawingml/2006/main">
            <a:r>
              <a:t>SOURCE RECORD</a:t>
            </a:r>
          </a:p>
          <a:p xmlns:a="http://schemas.openxmlformats.org/drawingml/2006/main">
            <a:r>
              <a:t>Head-pose validation: D:/FYP_fall_23/ai-engine/HEAD_POSE_VALIDATION.md</a:t>
            </a:r>
          </a:p>
          <a:p xmlns:a="http://schemas.openxmlformats.org/drawingml/2006/main">
            <a:r>
              <a:t>Implementation and recorded checks: D:/FYP_fall_23/backend/LOCAL_PLATFORM.md</a:t>
            </a:r>
          </a:p>
          <a:p xmlns:a="http://schemas.openxmlformats.org/drawingml/2006/main">
            <a:r>
              <a:t>Screenshot: D:/FYP_fall_23/ai-engine/validation-output/head-pose-live/website-sustained-turn.png</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Permissions are enforced by the backend as well as role-based frontend routing. Teachers see assigned sessions; students see only their own cases. Admin may import all four CSV categories, while Exam Controller may import schedules and invigilator assignments. HOD and Student do not receive import access. The screenshot illustrates the refreshed dark-mode frontend and uses sample data, not institutional deployment results. The case workflow and role restrictions were tested separately using disposable browser accounts and server tests.</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Role and import service: D:/FYP_fall_23/backend/app/services/csv_imports.py</a:t>
            </a:r>
          </a:p>
          <a:p xmlns:a="http://schemas.openxmlformats.org/drawingml/2006/main">
            <a:r>
              <a:t>Screenshot: C:\Users\ahmar\.codex\visualizations\2026\10\03\01a10308-5947-7382-a685-072252f067c7\proctorai-redesign\admin-dark.png</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recorded browser workflow passed teacher confirmation, HOD formal warning and notice, student appeal, HOD acceptance, dismissed case and revoked penalty in the student view. The evidence access and notice download routes enforce permissions. A pending review record can be created by a stable detection; human confirmation is required for a confirmed misconduct case and a human HOD decision for any penalty. Current notice downloads are text. Branded PDF generation and email delivery remain planned. The event score helps review and is not a probability of guilt.</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Screenshots: D:\FYP_fall_23\ai-engine\validation-output\platform\hod-case-review.png and student-resolution.png</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operator uploads all four CSVs or the permitted subset. The system validates headers, identifiers, dates, institutional emails, cross-file links and room/teacher booking conflicts before a preview. Saving is atomic; exact existing matches are skipped and a stale preview must be revalidated. The browser test imported four related records, reflected them in the appropriate portals, and skipped all four on a repeated upload. Admin handles all inputs; Controller handles schedule and invigilator files. Teachers must already have active accounts, students activate through institutional Google sign-in, and camera polygons still require alignment.</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 CSV import setup</a:t>
            </a:r>
          </a:p>
          <a:p xmlns:a="http://schemas.openxmlformats.org/drawingml/2006/main">
            <a:r>
              <a:t>Importer: D:/FYP_fall_23/backend/app/services/csv_imports.py</a:t>
            </a:r>
          </a:p>
          <a:p xmlns:a="http://schemas.openxmlformats.org/drawingml/2006/main">
            <a:r>
              <a:t>Screenshot: C:\Users\ahmar\.codex\visualizations\2026\10\03\01a10308-5947-7382-a685-072252f067c7\proctorai-redesign\csv-imports.png</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setup toolkit provides reusable seat assignment CSVs, printable seat-map SVGs and draft polygon JSON. Presets support 30, 60 and 120 seats with configurable layouts. Teachers upload assignments, while Admin maintains the camera seat map. A generated grid is a planning aid and must be manually aligned to a classroom camera; it does not implement automatic face-to-seat attribution across a hall. This screenshot uses the frontend design preview with sample data.</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Frontend setup toolkit and seat polygon editor in D:/FYP_fall_23/src</a:t>
            </a:r>
          </a:p>
          <a:p xmlns:a="http://schemas.openxmlformats.org/drawingml/2006/main">
            <a:r>
              <a:t>Screenshot: C:\Users\ahmar\.codex\visualizations\2026\10\03\01a10308-5947-7382-a685-072252f067c7\proctorai-redesign\seat-grid.png</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Use this table to state the progress directly. There is no invented completion percentage. Working local prototype means the feature exists and has relevant local checks; it does not mean all classroom conditions have been validated. Notice text generation and a backend MQTT connector exist, but branded PDF/email delivery and a physical ESP32 room demonstration do not. Current camera integration monitors one clearly visible selected student. The AI notice service has a deterministic fallback if the external API is unavailable or its output fails checks.</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Head-pose validation: D:/FYP_fall_23/ai-engine/HEAD_POSE_VALIDATION.md</a:t>
            </a:r>
          </a:p>
          <a:p xmlns:a="http://schemas.openxmlformats.org/drawingml/2006/main">
            <a:r>
              <a:t>Detector implementation and validation: D:/FYP_fall_23/ai-engine/README.md</a:t>
            </a:r>
          </a:p>
          <a:p xmlns:a="http://schemas.openxmlformats.org/drawingml/2006/main">
            <a:r>
              <a:t>Notice service: D:/FYP_fall_23/backend/app/services/notices.py</a:t>
            </a:r>
          </a:p>
          <a:p xmlns:a="http://schemas.openxmlformats.org/drawingml/2006/main">
            <a:r>
              <a:t>MQTT service: D:/FYP_fall_23/backend/app/services/mqtt.py</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These are recorded successful test runs, not newly executed presentation-time tests. The latest focused CSV/role/scheduling run passed 80 tests with 203 deselected. The prior full backend run passed 272 tests. The AI and bridge regression suite passed 102 tests. Do not add these counts into a total because backend and focused groups overlap. The production frontend build passes, and lint exits successfully with existing warnings. Neutral and both sideways head movements passed earlier webcam checks; integrated sideways and downward validation remain limited. No precision, recall, F1 or false-positive percentage is claimed from these checks.</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Head-pose validation: D:/FYP_fall_23/ai-engine/HEAD_POSE_VALIDATION.md</a:t>
            </a:r>
          </a:p>
          <a:p xmlns:a="http://schemas.openxmlformats.org/drawingml/2006/main">
            <a:r>
              <a:t>Recorded CSV/import verification from the current project development record</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The remaining work closes the gap between the current single-student local prototype and the single-room MVP. Prioritize safe face-to-seat attribution and individual calibration for multiple students, camera-angle and lighting trials, long-duration stability and object confirmation latency. Gaze and silent-mode lip detection require careful false-positive testing. Build and test the physical ESP32 node and its latency, branded PDF notice rendering and email delivery confirmation. The scope proposes ten consenting volunteers and ground-truth scripted behaviors. Review consent, evidence access, face blur and retention against the final institutional policy before the pilot. Phase 2 exclusions remain outside this completion plan.</a:t>
            </a:r>
          </a:p>
          <a:p xmlns:a="http://schemas.openxmlformats.org/drawingml/2006/main">
            <a:r>
              <a:t/>
            </a:r>
          </a:p>
          <a:p xmlns:a="http://schemas.openxmlformats.org/drawingml/2006/main">
            <a:r>
              <a:t>SOURCE RECORD</a:t>
            </a:r>
          </a:p>
          <a:p xmlns:a="http://schemas.openxmlformats.org/drawingml/2006/main">
            <a:r>
              <a:t>Scope: C:/Users/ahmar/Downloads/ProctorAI_Scope_Document.docx; sections 5, 8, 15 and 16</a:t>
            </a:r>
          </a:p>
          <a:p xmlns:a="http://schemas.openxmlformats.org/drawingml/2006/main">
            <a:r>
              <a:t>Implementation and recorded checks: D:/FYP_fall_23/backend/LOCAL_PLATFORM.md</a:t>
            </a:r>
          </a:p>
          <a:p xmlns:a="http://schemas.openxmlformats.org/drawingml/2006/main">
            <a:r>
              <a:t>Head-pose validation: D:/FYP_fall_23/ai-engine/HEAD_POSE_VALIDATION.md</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Use only an approved demonstration environment with sample records. Start services, warm the object model and confirm camera access before the panel arrives. Avoid running the model benchmark or a production build during the demo. Show http://127.0.0.1:5173 on this PC. Keep objects fully visible at the tested moderate distance and allow several seconds for confirmation. A short head-pose check is optional after stable neutral calibration; face visibility matters. Use the recorded screenshots if the camera or account switching fails. No automatic punishment is demonstrated. Never create demonstration penalties against actual student accounts.</a:t>
            </a:r>
          </a:p>
          <a:p xmlns:a="http://schemas.openxmlformats.org/drawingml/2006/main">
            <a:r>
              <a:t/>
            </a:r>
          </a:p>
          <a:p xmlns:a="http://schemas.openxmlformats.org/drawingml/2006/main">
            <a:r>
              <a:t>SOURCE RECORD</a:t>
            </a:r>
          </a:p>
          <a:p xmlns:a="http://schemas.openxmlformats.org/drawingml/2006/main">
            <a:r>
              <a:t>Implementation and recorded checks: D:/FYP_fall_23/backend/LOCAL_PLATFORM.md</a:t>
            </a:r>
          </a:p>
          <a:p xmlns:a="http://schemas.openxmlformats.org/drawingml/2006/main">
            <a:r>
              <a:t>Detector implementation and validation: D:/FYP_fall_23/ai-engine/README.md</a:t>
            </a:r>
          </a:p>
          <a:p xmlns:a="http://schemas.openxmlformats.org/drawingml/2006/main">
            <a:r>
              <a:t>Local website: http://127.0.0.1:5173</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Close with the completed result: the local platform connects phone/book detection, calibrated head pose, authorized evidence, five roles, review and appeal records, and CSV exam setup. Acknowledge that classroom-wide AI, other behavior signals, physical hardware, PDF/email delivery and controlled pilot evaluation remain. Invite questions, then run the prepared demonstration if time allows. Team responsibilities in the scope: Ahmar is AI and IoT lead, Moaz is backend lead, Ali is frontend lead; do not infer that every proposed assignment is finished.</a:t>
            </a:r>
          </a:p>
          <a:p xmlns:a="http://schemas.openxmlformats.org/drawingml/2006/main">
            <a:r>
              <a:t/>
            </a:r>
          </a:p>
          <a:p xmlns:a="http://schemas.openxmlformats.org/drawingml/2006/main">
            <a:r>
              <a:t>SOURCE RECORD</a:t>
            </a:r>
          </a:p>
          <a:p xmlns:a="http://schemas.openxmlformats.org/drawingml/2006/main">
            <a:r>
              <a:t>Scope: C:/Users/ahmar/Downloads/ProctorAI_Scope_Document.docx</a:t>
            </a:r>
          </a:p>
          <a:p xmlns:a="http://schemas.openxmlformats.org/drawingml/2006/main">
            <a:r>
              <a:t>Implementation and recorded checks: D:/FYP_fall_23/backend/LOCAL_PLATFORM.md</a:t>
            </a:r>
          </a:p>
          <a:p xmlns:a="http://schemas.openxmlformats.org/drawingml/2006/main">
            <a:r>
              <a:t>Head-pose validation: D:/FYP_fall_23/ai-engine/HEAD_POSE_VALIDATION.md</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NOTES</a:t>
            </a:r>
          </a:p>
          <a:p xmlns:a="http://schemas.openxmlformats.org/drawingml/2006/main">
            <a:r>
              <a:t>Use this only if asked how success will be measured. These are targets in the original scope, not established results. In particular, preview frame rate is not the six-FPS all-face AI processing target. The recorded phone/book confidence values are not precision and recall. The proposal suggests ten consenting participants with scripted suspicious and innocent behaviors and an observer recording ground truth. Security role-gate tests exist, while institutional configuration and a final comprehensive matrix should be included in the acceptance exercise.</a:t>
            </a:r>
          </a:p>
          <a:p xmlns:a="http://schemas.openxmlformats.org/drawingml/2006/main">
            <a:r>
              <a:t/>
            </a:r>
          </a:p>
          <a:p xmlns:a="http://schemas.openxmlformats.org/drawingml/2006/main">
            <a:r>
              <a:t>SOURCE RECORD</a:t>
            </a:r>
          </a:p>
          <a:p xmlns:a="http://schemas.openxmlformats.org/drawingml/2006/main">
            <a:r>
              <a:t>Scope: C:/Users/ahmar/Downloads/ProctorAI_Scope_Document.docx; objectives and Table 9</a:t>
            </a:r>
          </a:p>
          <a:p xmlns:a="http://schemas.openxmlformats.org/drawingml/2006/main">
            <a:r>
              <a:t>Implementation and recorded checks: D:/FYP_fall_23/backend/LOCAL_PLATFORM.md</a:t>
            </a:r>
          </a:p>
          <a:p xmlns:a="http://schemas.openxmlformats.org/drawingml/2006/main">
            <a:r>
              <a:t>Head-pose validation: D:/FYP_fall_23/ai-engine/HEAD_POSE_VALIDATION.md</a:t>
            </a:r>
          </a:p>
          <a:p xmlns:a="http://schemas.openxmlformats.org/drawingml/2006/main">
            <a:r>
              <a:t/>
            </a:r>
          </a:p>
          <a:p xmlns:a="http://schemas.openxmlformats.org/drawingml/2006/main">
            <a:r>
              <a:t>Status reviewed: 4 October 2026. Local prototype; no production or university-pilot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b52f6fd5124b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474152e7134cdc" /><Relationship Type="http://schemas.openxmlformats.org/officeDocument/2006/relationships/slideLayout" Target="/ppt/slideLayouts/slideLayout1.xml" Id="R367f39e69f0841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7f39e69f0841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47df94bccc4beb" /><Relationship Type="http://schemas.openxmlformats.org/officeDocument/2006/relationships/image" Target="/ppt/media/image.png" Id="R2aafb365ffc8414d" /><Relationship Type="http://schemas.openxmlformats.org/officeDocument/2006/relationships/notesSlide" Target="/ppt/notesSlides/notesSlide1.xml" Id="R7a880ef5027145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7d98ab906049d4" /><Relationship Type="http://schemas.openxmlformats.org/officeDocument/2006/relationships/notesSlide" Target="/ppt/notesSlides/notesSlide2.xml" Id="R365cdb30237345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ba5f6c0bbb4206" /><Relationship Type="http://schemas.openxmlformats.org/officeDocument/2006/relationships/notesSlide" Target="/ppt/notesSlides/notesSlide3.xml" Id="Rd8cd28d424b94c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35844178534c9b" /><Relationship Type="http://schemas.openxmlformats.org/officeDocument/2006/relationships/notesSlide" Target="/ppt/notesSlides/notesSlide4.xml" Id="R016f163cd5d447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7812c4acc64d19" /><Relationship Type="http://schemas.openxmlformats.org/officeDocument/2006/relationships/notesSlide" Target="/ppt/notesSlides/notesSlide5.xml" Id="R403a3160fbb045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60523e2e7d44e2" /><Relationship Type="http://schemas.openxmlformats.org/officeDocument/2006/relationships/image" Target="/ppt/media/image.jpeg" Id="R11dfa6bf11e64025" /><Relationship Type="http://schemas.openxmlformats.org/officeDocument/2006/relationships/notesSlide" Target="/ppt/notesSlides/notesSlide6.xml" Id="R34728c69ec2942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8e937448b347e7" /><Relationship Type="http://schemas.openxmlformats.org/officeDocument/2006/relationships/image" Target="/ppt/media/image2.jpeg" Id="R1175c3f3c4d24bff" /><Relationship Type="http://schemas.openxmlformats.org/officeDocument/2006/relationships/notesSlide" Target="/ppt/notesSlides/notesSlide7.xml" Id="Rbc838dbfec0944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07421d73c64110" /><Relationship Type="http://schemas.openxmlformats.org/officeDocument/2006/relationships/image" Target="/ppt/media/image3.jpeg" Id="Rd7331beb35b5445f" /><Relationship Type="http://schemas.openxmlformats.org/officeDocument/2006/relationships/notesSlide" Target="/ppt/notesSlides/notesSlide8.xml" Id="Rb0435ba005f449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7013cb45604308" /><Relationship Type="http://schemas.openxmlformats.org/officeDocument/2006/relationships/image" Target="/ppt/media/image4.jpeg" Id="R81b5ba7d02f344b0" /><Relationship Type="http://schemas.openxmlformats.org/officeDocument/2006/relationships/notesSlide" Target="/ppt/notesSlides/notesSlide9.xml" Id="R292312c0553242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4bc9926b324546" /><Relationship Type="http://schemas.openxmlformats.org/officeDocument/2006/relationships/image" Target="/ppt/media/image5.jpeg" Id="Rd0db7db3a1e54997" /><Relationship Type="http://schemas.openxmlformats.org/officeDocument/2006/relationships/notesSlide" Target="/ppt/notesSlides/notesSlide10.xml" Id="Rb75bab655b7743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b83b54147741a4" /><Relationship Type="http://schemas.openxmlformats.org/officeDocument/2006/relationships/image" Target="/ppt/media/image6.jpeg" Id="Rd7340ec54d224021" /><Relationship Type="http://schemas.openxmlformats.org/officeDocument/2006/relationships/notesSlide" Target="/ppt/notesSlides/notesSlide11.xml" Id="Rfe5af6e1205a45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8afa7752084a39" /><Relationship Type="http://schemas.openxmlformats.org/officeDocument/2006/relationships/notesSlide" Target="/ppt/notesSlides/notesSlide12.xml" Id="R8b6b609e02fb45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a2003f3f1745c4" /><Relationship Type="http://schemas.openxmlformats.org/officeDocument/2006/relationships/notesSlide" Target="/ppt/notesSlides/notesSlide13.xml" Id="R6b9cfd7b8f434b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c72ae094203406d" /><Relationship Type="http://schemas.openxmlformats.org/officeDocument/2006/relationships/notesSlide" Target="/ppt/notesSlides/notesSlide14.xml" Id="R96a8d1e661e94b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cc259af7034b35" /><Relationship Type="http://schemas.openxmlformats.org/officeDocument/2006/relationships/notesSlide" Target="/ppt/notesSlides/notesSlide15.xml" Id="Rce7a8a59ccaa4c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2c7f33eb1c44b2" /><Relationship Type="http://schemas.openxmlformats.org/officeDocument/2006/relationships/notesSlide" Target="/ppt/notesSlides/notesSlide16.xml" Id="R276ea41e9b2e47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6fb19e18f34ff6" /><Relationship Type="http://schemas.openxmlformats.org/officeDocument/2006/relationships/notesSlide" Target="/ppt/notesSlides/notesSlide17.xml" Id="R7ffb39a8b4ea4467" /></Relationships>
</file>

<file path=ppt/slides/slide1.xml><?xml version="1.0" encoding="utf-8"?>
<p:sld xmlns:p="http://schemas.openxmlformats.org/presentationml/2006/main">
  <p:cSld>
    <p:bg>
      <p:bgPr>
        <a:solidFill xmlns:a="http://schemas.openxmlformats.org/drawingml/2006/main">
          <a:srgbClr val="0C1B2B"/>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B345D853-1A03-425F-AAF8-CED40ED9B2B3}"/>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8D9E4"/>
                </a:solidFill>
                <a:latin typeface="Arial"/>
                <a:ea typeface="Arial"/>
                <a:cs typeface="Arial"/>
              </a:defRPr>
            </a:pPr>
            <a:r>
              <a:rPr sz="1050" b="1">
                <a:solidFill>
                  <a:srgbClr val="B8D9E4"/>
                </a:solidFill>
                <a:latin typeface="Arial"/>
                <a:ea typeface="Arial"/>
                <a:cs typeface="Arial"/>
              </a:rPr>
              <a:t>FINAL YEAR PROJECT</a:t>
            </a:r>
          </a:p>
        </p:txBody>
      </p:sp>
      <p:sp>
        <p:nvSpPr>
          <p:cNvPr id="2" name="slide-title">
            <a:extLst xmlns:a="http://schemas.openxmlformats.org/drawingml/2006/main">
              <a:ext uri="{FF2B5EF4-FFF2-40B4-BE49-F238E27FC236}">
                <a16:creationId xmlns:a16="http://schemas.microsoft.com/office/drawing/2014/main" id="{7CD71B89-7E78-45D8-ADB5-7D5B962F4B9D}"/>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9A6FB302-A552-4521-B041-D04A77FCA4DF}"/>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84255"/>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B1D067F6-9BA5-4F12-838F-34576DC07960}"/>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B8D9E4"/>
                </a:solidFill>
                <a:latin typeface="Arial"/>
                <a:ea typeface="Arial"/>
                <a:cs typeface="Arial"/>
              </a:defRPr>
            </a:pPr>
            <a:r>
              <a:rPr sz="1000" b="1">
                <a:solidFill>
                  <a:srgbClr val="B8D9E4"/>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A6426B0D-EED7-462C-99BE-898F26B3F533}"/>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B8D9E4"/>
                </a:solidFill>
                <a:latin typeface="Arial"/>
                <a:ea typeface="Arial"/>
                <a:cs typeface="Arial"/>
              </a:defRPr>
            </a:pPr>
            <a:r>
              <a:rPr sz="1000" b="0">
                <a:solidFill>
                  <a:srgbClr val="B8D9E4"/>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EB659AC8-9629-4623-BFC1-E5BB59CBEB06}"/>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B8D9E4"/>
                </a:solidFill>
                <a:latin typeface="Arial"/>
                <a:ea typeface="Arial"/>
                <a:cs typeface="Arial"/>
              </a:defRPr>
            </a:pPr>
            <a:r>
              <a:rPr sz="1100" b="1">
                <a:solidFill>
                  <a:srgbClr val="B8D9E4"/>
                </a:solidFill>
                <a:latin typeface="Arial"/>
                <a:ea typeface="Arial"/>
                <a:cs typeface="Arial"/>
              </a:rPr>
              <a:t>01</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aafb365ffc8414d"/>
          <a:stretch xmlns:a="http://schemas.openxmlformats.org/drawingml/2006/main"/>
        </p:blipFill>
        <p:spPr>
          <a:xfrm xmlns:a="http://schemas.openxmlformats.org/drawingml/2006/main">
            <a:off x="8743950" y="1189326"/>
            <a:ext cx="2190750" cy="2469573"/>
          </a:xfrm>
          <a:prstGeom xmlns:a="http://schemas.openxmlformats.org/drawingml/2006/main" prst="rect">
            <a:avLst/>
          </a:prstGeom>
        </p:spPr>
      </p:pic>
      <p:sp>
        <p:nvSpPr>
          <p:cNvPr id="8" name="copy">
            <a:extLst xmlns:a="http://schemas.openxmlformats.org/drawingml/2006/main">
              <a:ext uri="{FF2B5EF4-FFF2-40B4-BE49-F238E27FC236}">
                <a16:creationId xmlns:a16="http://schemas.microsoft.com/office/drawing/2014/main" id="{92BB5163-FA6F-42BD-8FE2-E0F857ADC28C}"/>
              </a:ext>
            </a:extLst>
          </p:cNvPr>
          <p:cNvSpPr>
            <a:spLocks xmlns:a="http://schemas.openxmlformats.org/drawingml/2006/main" noGrp="1"/>
          </p:cNvSpPr>
          <p:nvPr/>
        </p:nvSpPr>
        <p:spPr>
          <a:xfrm xmlns:a="http://schemas.openxmlformats.org/drawingml/2006/main">
            <a:off x="609600" y="1438275"/>
            <a:ext cx="7524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400" b="1">
                <a:solidFill>
                  <a:srgbClr val="FFFFFF"/>
                </a:solidFill>
                <a:latin typeface="Arial"/>
                <a:ea typeface="Arial"/>
                <a:cs typeface="Arial"/>
              </a:defRPr>
            </a:pPr>
            <a:r>
              <a:rPr sz="6400" b="1">
                <a:solidFill>
                  <a:srgbClr val="FFFFFF"/>
                </a:solidFill>
                <a:latin typeface="Arial"/>
                <a:ea typeface="Arial"/>
                <a:cs typeface="Arial"/>
              </a:rPr>
              <a:t>ProctorAI</a:t>
            </a:r>
          </a:p>
        </p:txBody>
      </p:sp>
      <p:sp>
        <p:nvSpPr>
          <p:cNvPr id="9" name="copy">
            <a:extLst xmlns:a="http://schemas.openxmlformats.org/drawingml/2006/main">
              <a:ext uri="{FF2B5EF4-FFF2-40B4-BE49-F238E27FC236}">
                <a16:creationId xmlns:a16="http://schemas.microsoft.com/office/drawing/2014/main" id="{CFDD4905-DAB4-4BB3-B414-B90E2FB3E258}"/>
              </a:ext>
            </a:extLst>
          </p:cNvPr>
          <p:cNvSpPr>
            <a:spLocks xmlns:a="http://schemas.openxmlformats.org/drawingml/2006/main" noGrp="1"/>
          </p:cNvSpPr>
          <p:nvPr/>
        </p:nvSpPr>
        <p:spPr>
          <a:xfrm xmlns:a="http://schemas.openxmlformats.org/drawingml/2006/main">
            <a:off x="647700" y="270510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00" b="0">
                <a:solidFill>
                  <a:srgbClr val="B8D9E4"/>
                </a:solidFill>
                <a:latin typeface="Arial"/>
                <a:ea typeface="Arial"/>
                <a:cs typeface="Arial"/>
              </a:defRPr>
            </a:pPr>
            <a:r>
              <a:rPr sz="2800" b="0">
                <a:solidFill>
                  <a:srgbClr val="B8D9E4"/>
                </a:solidFill>
                <a:latin typeface="Arial"/>
                <a:ea typeface="Arial"/>
                <a:cs typeface="Arial"/>
              </a:rPr>
              <a:t>AI-assisted examination integrity</a:t>
            </a:r>
          </a:p>
        </p:txBody>
      </p:sp>
      <p:sp>
        <p:nvSpPr>
          <p:cNvPr id="10" name="copy">
            <a:extLst xmlns:a="http://schemas.openxmlformats.org/drawingml/2006/main">
              <a:ext uri="{FF2B5EF4-FFF2-40B4-BE49-F238E27FC236}">
                <a16:creationId xmlns:a16="http://schemas.microsoft.com/office/drawing/2014/main" id="{3618FF25-0B88-427F-9CFD-826A397973F2}"/>
              </a:ext>
            </a:extLst>
          </p:cNvPr>
          <p:cNvSpPr>
            <a:spLocks xmlns:a="http://schemas.openxmlformats.org/drawingml/2006/main" noGrp="1"/>
          </p:cNvSpPr>
          <p:nvPr/>
        </p:nvSpPr>
        <p:spPr>
          <a:xfrm xmlns:a="http://schemas.openxmlformats.org/drawingml/2006/main">
            <a:off x="647700" y="3429000"/>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00" b="0">
                <a:solidFill>
                  <a:srgbClr val="FFFFFF"/>
                </a:solidFill>
                <a:latin typeface="Arial"/>
                <a:ea typeface="Arial"/>
                <a:cs typeface="Arial"/>
              </a:defRPr>
            </a:pPr>
            <a:r>
              <a:rPr sz="2000" b="0">
                <a:solidFill>
                  <a:srgbClr val="FFFFFF"/>
                </a:solidFill>
                <a:latin typeface="Arial"/>
                <a:ea typeface="Arial"/>
                <a:cs typeface="Arial"/>
              </a:rPr>
              <a:t>Development progress and working prototype</a:t>
            </a:r>
          </a:p>
        </p:txBody>
      </p:sp>
      <p:sp>
        <p:nvSpPr>
          <p:cNvPr id="11" name="">
            <a:extLst xmlns:a="http://schemas.openxmlformats.org/drawingml/2006/main">
              <a:ext uri="{FF2B5EF4-FFF2-40B4-BE49-F238E27FC236}">
                <a16:creationId xmlns:a16="http://schemas.microsoft.com/office/drawing/2014/main" id="{2E3061CB-9556-4CA6-AAD6-470CC8CE243A}"/>
              </a:ext>
            </a:extLst>
          </p:cNvPr>
          <p:cNvSpPr>
            <a:spLocks xmlns:a="http://schemas.openxmlformats.org/drawingml/2006/main" noGrp="1"/>
          </p:cNvSpPr>
          <p:nvPr/>
        </p:nvSpPr>
        <p:spPr>
          <a:xfrm xmlns:a="http://schemas.openxmlformats.org/drawingml/2006/main">
            <a:off x="647700" y="4181475"/>
            <a:ext cx="10477500" cy="9525"/>
          </a:xfrm>
          <a:prstGeom xmlns:a="http://schemas.openxmlformats.org/drawingml/2006/main" prst="rect">
            <a:avLst/>
          </a:prstGeom>
          <a:solidFill xmlns:a="http://schemas.openxmlformats.org/drawingml/2006/main">
            <a:srgbClr val="284255"/>
          </a:solidFill>
          <a:ln xmlns:a="http://schemas.openxmlformats.org/drawingml/2006/main" w="0">
            <a:noFill/>
          </a:ln>
        </p:spPr>
      </p:sp>
      <p:sp>
        <p:nvSpPr>
          <p:cNvPr id="12" name="copy">
            <a:extLst xmlns:a="http://schemas.openxmlformats.org/drawingml/2006/main">
              <a:ext uri="{FF2B5EF4-FFF2-40B4-BE49-F238E27FC236}">
                <a16:creationId xmlns:a16="http://schemas.microsoft.com/office/drawing/2014/main" id="{90E7F508-4432-4FDD-8280-A0F1979ED765}"/>
              </a:ext>
            </a:extLst>
          </p:cNvPr>
          <p:cNvSpPr>
            <a:spLocks xmlns:a="http://schemas.openxmlformats.org/drawingml/2006/main" noGrp="1"/>
          </p:cNvSpPr>
          <p:nvPr/>
        </p:nvSpPr>
        <p:spPr>
          <a:xfrm xmlns:a="http://schemas.openxmlformats.org/drawingml/2006/main">
            <a:off x="647700" y="4457700"/>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Ahmar Muzaffar</a:t>
            </a:r>
          </a:p>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232475</a:t>
            </a:r>
          </a:p>
        </p:txBody>
      </p:sp>
      <p:sp>
        <p:nvSpPr>
          <p:cNvPr id="13" name="copy">
            <a:extLst xmlns:a="http://schemas.openxmlformats.org/drawingml/2006/main">
              <a:ext uri="{FF2B5EF4-FFF2-40B4-BE49-F238E27FC236}">
                <a16:creationId xmlns:a16="http://schemas.microsoft.com/office/drawing/2014/main" id="{23FC463D-2525-4B7E-9C04-89B41C9A9330}"/>
              </a:ext>
            </a:extLst>
          </p:cNvPr>
          <p:cNvSpPr>
            <a:spLocks xmlns:a="http://schemas.openxmlformats.org/drawingml/2006/main" noGrp="1"/>
          </p:cNvSpPr>
          <p:nvPr/>
        </p:nvSpPr>
        <p:spPr>
          <a:xfrm xmlns:a="http://schemas.openxmlformats.org/drawingml/2006/main">
            <a:off x="4305300" y="4457700"/>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Moaz Iqbal</a:t>
            </a:r>
          </a:p>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232490</a:t>
            </a:r>
          </a:p>
        </p:txBody>
      </p:sp>
      <p:sp>
        <p:nvSpPr>
          <p:cNvPr id="14" name="copy">
            <a:extLst xmlns:a="http://schemas.openxmlformats.org/drawingml/2006/main">
              <a:ext uri="{FF2B5EF4-FFF2-40B4-BE49-F238E27FC236}">
                <a16:creationId xmlns:a16="http://schemas.microsoft.com/office/drawing/2014/main" id="{403D86A9-11E4-418A-BEB5-FA2C2EF2947A}"/>
              </a:ext>
            </a:extLst>
          </p:cNvPr>
          <p:cNvSpPr>
            <a:spLocks xmlns:a="http://schemas.openxmlformats.org/drawingml/2006/main" noGrp="1"/>
          </p:cNvSpPr>
          <p:nvPr/>
        </p:nvSpPr>
        <p:spPr>
          <a:xfrm xmlns:a="http://schemas.openxmlformats.org/drawingml/2006/main">
            <a:off x="7962900" y="44577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Ali Asghar</a:t>
            </a:r>
          </a:p>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232411</a:t>
            </a:r>
          </a:p>
        </p:txBody>
      </p:sp>
      <p:sp>
        <p:nvSpPr>
          <p:cNvPr id="15" name="copy">
            <a:extLst xmlns:a="http://schemas.openxmlformats.org/drawingml/2006/main">
              <a:ext uri="{FF2B5EF4-FFF2-40B4-BE49-F238E27FC236}">
                <a16:creationId xmlns:a16="http://schemas.microsoft.com/office/drawing/2014/main" id="{7F541026-D794-4673-9E75-83EEA65F19CC}"/>
              </a:ext>
            </a:extLst>
          </p:cNvPr>
          <p:cNvSpPr>
            <a:spLocks xmlns:a="http://schemas.openxmlformats.org/drawingml/2006/main" noGrp="1"/>
          </p:cNvSpPr>
          <p:nvPr/>
        </p:nvSpPr>
        <p:spPr>
          <a:xfrm xmlns:a="http://schemas.openxmlformats.org/drawingml/2006/main">
            <a:off x="647700" y="554355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0">
                <a:solidFill>
                  <a:srgbClr val="B8D9E4"/>
                </a:solidFill>
                <a:latin typeface="Arial"/>
                <a:ea typeface="Arial"/>
                <a:cs typeface="Arial"/>
              </a:defRPr>
            </a:pPr>
            <a:r>
              <a:rPr sz="1600" b="0">
                <a:solidFill>
                  <a:srgbClr val="B8D9E4"/>
                </a:solidFill>
                <a:latin typeface="Arial"/>
                <a:ea typeface="Arial"/>
                <a:cs typeface="Arial"/>
              </a:rPr>
              <a:t>Air University Islamabad</a:t>
            </a:r>
          </a:p>
          <a:p xmlns:a="http://schemas.openxmlformats.org/drawingml/2006/main">
            <a:pPr>
              <a:defRPr sz="1600" b="0">
                <a:solidFill>
                  <a:srgbClr val="B8D9E4"/>
                </a:solidFill>
                <a:latin typeface="Arial"/>
                <a:ea typeface="Arial"/>
                <a:cs typeface="Arial"/>
              </a:defRPr>
            </a:pPr>
            <a:r>
              <a:rPr sz="1600" b="0">
                <a:solidFill>
                  <a:srgbClr val="B8D9E4"/>
                </a:solidFill>
                <a:latin typeface="Arial"/>
                <a:ea typeface="Arial"/>
                <a:cs typeface="Arial"/>
              </a:rPr>
              <a:t>Department of Computer Science</a:t>
            </a:r>
          </a:p>
        </p:txBody>
      </p:sp>
      <p:sp>
        <p:nvSpPr>
          <p:cNvPr id="16" name="copy">
            <a:extLst xmlns:a="http://schemas.openxmlformats.org/drawingml/2006/main">
              <a:ext uri="{FF2B5EF4-FFF2-40B4-BE49-F238E27FC236}">
                <a16:creationId xmlns:a16="http://schemas.microsoft.com/office/drawing/2014/main" id="{3AF422B8-A674-43E9-A494-0CB155A9CB42}"/>
              </a:ext>
            </a:extLst>
          </p:cNvPr>
          <p:cNvSpPr>
            <a:spLocks xmlns:a="http://schemas.openxmlformats.org/drawingml/2006/main" noGrp="1"/>
          </p:cNvSpPr>
          <p:nvPr/>
        </p:nvSpPr>
        <p:spPr>
          <a:xfrm xmlns:a="http://schemas.openxmlformats.org/drawingml/2006/main">
            <a:off x="7105650" y="5543550"/>
            <a:ext cx="4333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00" b="0">
                <a:solidFill>
                  <a:srgbClr val="B8D9E4"/>
                </a:solidFill>
                <a:latin typeface="Arial"/>
                <a:ea typeface="Arial"/>
                <a:cs typeface="Arial"/>
              </a:defRPr>
            </a:pPr>
            <a:r>
              <a:rPr sz="1600" b="0">
                <a:solidFill>
                  <a:srgbClr val="B8D9E4"/>
                </a:solidFill>
                <a:latin typeface="Arial"/>
                <a:ea typeface="Arial"/>
                <a:cs typeface="Arial"/>
              </a:rPr>
              <a:t>Supervisor</a:t>
            </a:r>
          </a:p>
          <a:p xmlns:a="http://schemas.openxmlformats.org/drawingml/2006/main">
            <a:pPr>
              <a:defRPr sz="1600" b="0">
                <a:solidFill>
                  <a:srgbClr val="B8D9E4"/>
                </a:solidFill>
                <a:latin typeface="Arial"/>
                <a:ea typeface="Arial"/>
                <a:cs typeface="Arial"/>
              </a:defRPr>
            </a:pPr>
            <a:r>
              <a:rPr sz="1600" b="0">
                <a:solidFill>
                  <a:srgbClr val="B8D9E4"/>
                </a:solidFill>
                <a:latin typeface="Arial"/>
                <a:ea typeface="Arial"/>
                <a:cs typeface="Arial"/>
              </a:rPr>
              <a:t>Dr. Muhammad Bilal Khan</a:t>
            </a:r>
          </a:p>
        </p:txBody>
      </p:sp>
    </p:spTree>
    <p:extLst>
      <p:ext uri="{BB962C8B-B14F-4D97-AF65-F5344CB8AC3E}">
        <p14:creationId xmlns:p14="http://schemas.microsoft.com/office/powerpoint/2010/main" val="18313623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6CF18153-0529-46E1-92A6-8E51A0DCEA21}"/>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CONTEXT</a:t>
            </a:r>
          </a:p>
        </p:txBody>
      </p:sp>
      <p:sp>
        <p:nvSpPr>
          <p:cNvPr id="2" name="slide-title">
            <a:extLst xmlns:a="http://schemas.openxmlformats.org/drawingml/2006/main">
              <a:ext uri="{FF2B5EF4-FFF2-40B4-BE49-F238E27FC236}">
                <a16:creationId xmlns:a16="http://schemas.microsoft.com/office/drawing/2014/main" id="{49BEA114-A201-4138-9E09-F819B45E2425}"/>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The problem we address</a:t>
            </a:r>
          </a:p>
        </p:txBody>
      </p:sp>
      <p:sp>
        <p:nvSpPr>
          <p:cNvPr id="3" name="">
            <a:extLst xmlns:a="http://schemas.openxmlformats.org/drawingml/2006/main">
              <a:ext uri="{FF2B5EF4-FFF2-40B4-BE49-F238E27FC236}">
                <a16:creationId xmlns:a16="http://schemas.microsoft.com/office/drawing/2014/main" id="{0F54FB75-FC07-4E9C-B181-2608508AB5AE}"/>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5430A077-898C-42D0-ACA7-5988E01A1F46}"/>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58695351-1264-42EB-A1DC-D2D9E728B25B}"/>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A9151964-FAD3-474D-AA18-3C273D05B2D7}"/>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02</a:t>
            </a:r>
          </a:p>
        </p:txBody>
      </p:sp>
      <p:sp>
        <p:nvSpPr>
          <p:cNvPr id="7" name="copy">
            <a:extLst xmlns:a="http://schemas.openxmlformats.org/drawingml/2006/main">
              <a:ext uri="{FF2B5EF4-FFF2-40B4-BE49-F238E27FC236}">
                <a16:creationId xmlns:a16="http://schemas.microsoft.com/office/drawing/2014/main" id="{AD872FBC-4ED2-4B38-AEC5-E8AA2BEDC360}"/>
              </a:ext>
            </a:extLst>
          </p:cNvPr>
          <p:cNvSpPr>
            <a:spLocks xmlns:a="http://schemas.openxmlformats.org/drawingml/2006/main" noGrp="1"/>
          </p:cNvSpPr>
          <p:nvPr/>
        </p:nvSpPr>
        <p:spPr>
          <a:xfrm xmlns:a="http://schemas.openxmlformats.org/drawingml/2006/main">
            <a:off x="609600" y="19431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42A3B"/>
                </a:solidFill>
                <a:latin typeface="Arial"/>
                <a:ea typeface="Arial"/>
                <a:cs typeface="Arial"/>
              </a:defRPr>
            </a:pPr>
            <a:r>
              <a:rPr sz="3300" b="1">
                <a:solidFill>
                  <a:srgbClr val="142A3B"/>
                </a:solidFill>
                <a:latin typeface="Arial"/>
                <a:ea typeface="Arial"/>
                <a:cs typeface="Arial"/>
              </a:rPr>
              <a:t>A suspicious moment is only the start of a case.</a:t>
            </a:r>
          </a:p>
        </p:txBody>
      </p:sp>
      <p:sp>
        <p:nvSpPr>
          <p:cNvPr id="8" name="copy">
            <a:extLst xmlns:a="http://schemas.openxmlformats.org/drawingml/2006/main">
              <a:ext uri="{FF2B5EF4-FFF2-40B4-BE49-F238E27FC236}">
                <a16:creationId xmlns:a16="http://schemas.microsoft.com/office/drawing/2014/main" id="{C5686C77-C0EB-4578-86B6-26404C6EA96D}"/>
              </a:ext>
            </a:extLst>
          </p:cNvPr>
          <p:cNvSpPr>
            <a:spLocks xmlns:a="http://schemas.openxmlformats.org/drawingml/2006/main" noGrp="1"/>
          </p:cNvSpPr>
          <p:nvPr/>
        </p:nvSpPr>
        <p:spPr>
          <a:xfrm xmlns:a="http://schemas.openxmlformats.org/drawingml/2006/main">
            <a:off x="609600" y="315277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Observation</a:t>
            </a:r>
          </a:p>
        </p:txBody>
      </p:sp>
      <p:sp>
        <p:nvSpPr>
          <p:cNvPr id="9" name="copy">
            <a:extLst xmlns:a="http://schemas.openxmlformats.org/drawingml/2006/main">
              <a:ext uri="{FF2B5EF4-FFF2-40B4-BE49-F238E27FC236}">
                <a16:creationId xmlns:a16="http://schemas.microsoft.com/office/drawing/2014/main" id="{3CA83984-0733-4057-A5BA-9857BDD2F107}"/>
              </a:ext>
            </a:extLst>
          </p:cNvPr>
          <p:cNvSpPr>
            <a:spLocks xmlns:a="http://schemas.openxmlformats.org/drawingml/2006/main" noGrp="1"/>
          </p:cNvSpPr>
          <p:nvPr/>
        </p:nvSpPr>
        <p:spPr>
          <a:xfrm xmlns:a="http://schemas.openxmlformats.org/drawingml/2006/main">
            <a:off x="609600" y="3562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An invigilator cannot watch every student continuously.</a:t>
            </a:r>
          </a:p>
        </p:txBody>
      </p:sp>
      <p:sp>
        <p:nvSpPr>
          <p:cNvPr id="10" name="copy">
            <a:extLst xmlns:a="http://schemas.openxmlformats.org/drawingml/2006/main">
              <a:ext uri="{FF2B5EF4-FFF2-40B4-BE49-F238E27FC236}">
                <a16:creationId xmlns:a16="http://schemas.microsoft.com/office/drawing/2014/main" id="{25A8157B-3ADC-4535-841F-8C0A7F283109}"/>
              </a:ext>
            </a:extLst>
          </p:cNvPr>
          <p:cNvSpPr>
            <a:spLocks xmlns:a="http://schemas.openxmlformats.org/drawingml/2006/main" noGrp="1"/>
          </p:cNvSpPr>
          <p:nvPr/>
        </p:nvSpPr>
        <p:spPr>
          <a:xfrm xmlns:a="http://schemas.openxmlformats.org/drawingml/2006/main">
            <a:off x="4419600" y="315277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Evidence</a:t>
            </a:r>
          </a:p>
        </p:txBody>
      </p:sp>
      <p:sp>
        <p:nvSpPr>
          <p:cNvPr id="11" name="copy">
            <a:extLst xmlns:a="http://schemas.openxmlformats.org/drawingml/2006/main">
              <a:ext uri="{FF2B5EF4-FFF2-40B4-BE49-F238E27FC236}">
                <a16:creationId xmlns:a16="http://schemas.microsoft.com/office/drawing/2014/main" id="{30FB53E9-89C1-44BC-BF47-72730381D394}"/>
              </a:ext>
            </a:extLst>
          </p:cNvPr>
          <p:cNvSpPr>
            <a:spLocks xmlns:a="http://schemas.openxmlformats.org/drawingml/2006/main" noGrp="1"/>
          </p:cNvSpPr>
          <p:nvPr/>
        </p:nvSpPr>
        <p:spPr>
          <a:xfrm xmlns:a="http://schemas.openxmlformats.org/drawingml/2006/main">
            <a:off x="4419600" y="3562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A review needs a clear event, seat and supporting image.</a:t>
            </a:r>
          </a:p>
        </p:txBody>
      </p:sp>
      <p:sp>
        <p:nvSpPr>
          <p:cNvPr id="12" name="copy">
            <a:extLst xmlns:a="http://schemas.openxmlformats.org/drawingml/2006/main">
              <a:ext uri="{FF2B5EF4-FFF2-40B4-BE49-F238E27FC236}">
                <a16:creationId xmlns:a16="http://schemas.microsoft.com/office/drawing/2014/main" id="{8ADC0DD3-A9E8-4B40-89DC-35F0E0128E68}"/>
              </a:ext>
            </a:extLst>
          </p:cNvPr>
          <p:cNvSpPr>
            <a:spLocks xmlns:a="http://schemas.openxmlformats.org/drawingml/2006/main" noGrp="1"/>
          </p:cNvSpPr>
          <p:nvPr/>
        </p:nvSpPr>
        <p:spPr>
          <a:xfrm xmlns:a="http://schemas.openxmlformats.org/drawingml/2006/main">
            <a:off x="8229600" y="3152775"/>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Follow-through</a:t>
            </a:r>
          </a:p>
        </p:txBody>
      </p:sp>
      <p:sp>
        <p:nvSpPr>
          <p:cNvPr id="13" name="copy">
            <a:extLst xmlns:a="http://schemas.openxmlformats.org/drawingml/2006/main">
              <a:ext uri="{FF2B5EF4-FFF2-40B4-BE49-F238E27FC236}">
                <a16:creationId xmlns:a16="http://schemas.microsoft.com/office/drawing/2014/main" id="{8441BA7A-C3CC-4A41-B425-1D4A24760A3C}"/>
              </a:ext>
            </a:extLst>
          </p:cNvPr>
          <p:cNvSpPr>
            <a:spLocks xmlns:a="http://schemas.openxmlformats.org/drawingml/2006/main" noGrp="1"/>
          </p:cNvSpPr>
          <p:nvPr/>
        </p:nvSpPr>
        <p:spPr>
          <a:xfrm xmlns:a="http://schemas.openxmlformats.org/drawingml/2006/main">
            <a:off x="8229600" y="3562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Decisions and appeals need a consistent, traceable process.</a:t>
            </a:r>
          </a:p>
        </p:txBody>
      </p:sp>
      <p:sp>
        <p:nvSpPr>
          <p:cNvPr id="14" name="copy">
            <a:extLst xmlns:a="http://schemas.openxmlformats.org/drawingml/2006/main">
              <a:ext uri="{FF2B5EF4-FFF2-40B4-BE49-F238E27FC236}">
                <a16:creationId xmlns:a16="http://schemas.microsoft.com/office/drawing/2014/main" id="{B5BFB800-F090-427A-BEB4-5531B2C2010F}"/>
              </a:ext>
            </a:extLst>
          </p:cNvPr>
          <p:cNvSpPr>
            <a:spLocks xmlns:a="http://schemas.openxmlformats.org/drawingml/2006/main" noGrp="1"/>
          </p:cNvSpPr>
          <p:nvPr/>
        </p:nvSpPr>
        <p:spPr>
          <a:xfrm xmlns:a="http://schemas.openxmlformats.org/drawingml/2006/main">
            <a:off x="609600" y="54006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1">
                <a:solidFill>
                  <a:srgbClr val="0B9AB9"/>
                </a:solidFill>
                <a:latin typeface="Arial"/>
                <a:ea typeface="Arial"/>
                <a:cs typeface="Arial"/>
              </a:defRPr>
            </a:pPr>
            <a:r>
              <a:rPr sz="2500" b="1">
                <a:solidFill>
                  <a:srgbClr val="0B9AB9"/>
                </a:solidFill>
                <a:latin typeface="Arial"/>
                <a:ea typeface="Arial"/>
                <a:cs typeface="Arial"/>
              </a:rPr>
              <a:t>ProctorAI connects monitoring with a human review process.</a:t>
            </a:r>
          </a:p>
        </p:txBody>
      </p:sp>
    </p:spTree>
    <p:extLst>
      <p:ext uri="{BB962C8B-B14F-4D97-AF65-F5344CB8AC3E}">
        <p14:creationId xmlns:p14="http://schemas.microsoft.com/office/powerpoint/2010/main" val="464293914"/>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39D5DF0C-DFD3-4949-8579-C202A2594AB6}"/>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MVP BOUNDARIES</a:t>
            </a:r>
          </a:p>
        </p:txBody>
      </p:sp>
      <p:sp>
        <p:nvSpPr>
          <p:cNvPr id="2" name="slide-title">
            <a:extLst xmlns:a="http://schemas.openxmlformats.org/drawingml/2006/main">
              <a:ext uri="{FF2B5EF4-FFF2-40B4-BE49-F238E27FC236}">
                <a16:creationId xmlns:a16="http://schemas.microsoft.com/office/drawing/2014/main" id="{4938FC55-32A1-414F-B319-1AD9E7220743}"/>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Project scope</a:t>
            </a:r>
          </a:p>
        </p:txBody>
      </p:sp>
      <p:sp>
        <p:nvSpPr>
          <p:cNvPr id="3" name="">
            <a:extLst xmlns:a="http://schemas.openxmlformats.org/drawingml/2006/main">
              <a:ext uri="{FF2B5EF4-FFF2-40B4-BE49-F238E27FC236}">
                <a16:creationId xmlns:a16="http://schemas.microsoft.com/office/drawing/2014/main" id="{463304A6-0C42-4458-B912-9A12F3F416D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19CDEB47-8FAF-4DCE-AC1B-A44612E11EF5}"/>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139B908F-FB6A-440F-BC7D-5EBFAA5D14E9}"/>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1FE40E6A-5271-4428-AA78-5A6A65562536}"/>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03</a:t>
            </a:r>
          </a:p>
        </p:txBody>
      </p:sp>
      <p:sp>
        <p:nvSpPr>
          <p:cNvPr id="7" name="copy">
            <a:extLst xmlns:a="http://schemas.openxmlformats.org/drawingml/2006/main">
              <a:ext uri="{FF2B5EF4-FFF2-40B4-BE49-F238E27FC236}">
                <a16:creationId xmlns:a16="http://schemas.microsoft.com/office/drawing/2014/main" id="{B5ED33D8-7927-4209-8123-DC982EA9CAEC}"/>
              </a:ext>
            </a:extLst>
          </p:cNvPr>
          <p:cNvSpPr>
            <a:spLocks xmlns:a="http://schemas.openxmlformats.org/drawingml/2006/main" noGrp="1"/>
          </p:cNvSpPr>
          <p:nvPr/>
        </p:nvSpPr>
        <p:spPr>
          <a:xfrm xmlns:a="http://schemas.openxmlformats.org/drawingml/2006/main">
            <a:off x="609600" y="19812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Physical examinations</a:t>
            </a:r>
          </a:p>
        </p:txBody>
      </p:sp>
      <p:sp>
        <p:nvSpPr>
          <p:cNvPr id="8" name="copy">
            <a:extLst xmlns:a="http://schemas.openxmlformats.org/drawingml/2006/main">
              <a:ext uri="{FF2B5EF4-FFF2-40B4-BE49-F238E27FC236}">
                <a16:creationId xmlns:a16="http://schemas.microsoft.com/office/drawing/2014/main" id="{27C6BF95-F332-45F3-B05E-27D7E7AA663C}"/>
              </a:ext>
            </a:extLst>
          </p:cNvPr>
          <p:cNvSpPr>
            <a:spLocks xmlns:a="http://schemas.openxmlformats.org/drawingml/2006/main" noGrp="1"/>
          </p:cNvSpPr>
          <p:nvPr/>
        </p:nvSpPr>
        <p:spPr>
          <a:xfrm xmlns:a="http://schemas.openxmlformats.org/drawingml/2006/main">
            <a:off x="609600" y="239077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Support in-person university exams with camera-based monitoring.</a:t>
            </a:r>
          </a:p>
        </p:txBody>
      </p:sp>
      <p:sp>
        <p:nvSpPr>
          <p:cNvPr id="9" name="copy">
            <a:extLst xmlns:a="http://schemas.openxmlformats.org/drawingml/2006/main">
              <a:ext uri="{FF2B5EF4-FFF2-40B4-BE49-F238E27FC236}">
                <a16:creationId xmlns:a16="http://schemas.microsoft.com/office/drawing/2014/main" id="{BB10C40E-97F2-4873-BA43-EEB8241C74FF}"/>
              </a:ext>
            </a:extLst>
          </p:cNvPr>
          <p:cNvSpPr>
            <a:spLocks xmlns:a="http://schemas.openxmlformats.org/drawingml/2006/main" noGrp="1"/>
          </p:cNvSpPr>
          <p:nvPr/>
        </p:nvSpPr>
        <p:spPr>
          <a:xfrm xmlns:a="http://schemas.openxmlformats.org/drawingml/2006/main">
            <a:off x="609600" y="3324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Human decisions</a:t>
            </a:r>
          </a:p>
        </p:txBody>
      </p:sp>
      <p:sp>
        <p:nvSpPr>
          <p:cNvPr id="10" name="copy">
            <a:extLst xmlns:a="http://schemas.openxmlformats.org/drawingml/2006/main">
              <a:ext uri="{FF2B5EF4-FFF2-40B4-BE49-F238E27FC236}">
                <a16:creationId xmlns:a16="http://schemas.microsoft.com/office/drawing/2014/main" id="{90477501-7DE7-4755-A3B3-14AFEE71DFC0}"/>
              </a:ext>
            </a:extLst>
          </p:cNvPr>
          <p:cNvSpPr>
            <a:spLocks xmlns:a="http://schemas.openxmlformats.org/drawingml/2006/main" noGrp="1"/>
          </p:cNvSpPr>
          <p:nvPr/>
        </p:nvSpPr>
        <p:spPr>
          <a:xfrm xmlns:a="http://schemas.openxmlformats.org/drawingml/2006/main">
            <a:off x="609600" y="373380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Teachers review alerts. HODs decide penalties. Students can appeal.</a:t>
            </a:r>
          </a:p>
        </p:txBody>
      </p:sp>
      <p:sp>
        <p:nvSpPr>
          <p:cNvPr id="11" name="copy">
            <a:extLst xmlns:a="http://schemas.openxmlformats.org/drawingml/2006/main">
              <a:ext uri="{FF2B5EF4-FFF2-40B4-BE49-F238E27FC236}">
                <a16:creationId xmlns:a16="http://schemas.microsoft.com/office/drawing/2014/main" id="{B7DB6B30-C0F6-49E3-A37A-E5025321ACB5}"/>
              </a:ext>
            </a:extLst>
          </p:cNvPr>
          <p:cNvSpPr>
            <a:spLocks xmlns:a="http://schemas.openxmlformats.org/drawingml/2006/main" noGrp="1"/>
          </p:cNvSpPr>
          <p:nvPr/>
        </p:nvSpPr>
        <p:spPr>
          <a:xfrm xmlns:a="http://schemas.openxmlformats.org/drawingml/2006/main">
            <a:off x="609600" y="4667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Single-room MVP</a:t>
            </a:r>
          </a:p>
        </p:txBody>
      </p:sp>
      <p:sp>
        <p:nvSpPr>
          <p:cNvPr id="12" name="copy">
            <a:extLst xmlns:a="http://schemas.openxmlformats.org/drawingml/2006/main">
              <a:ext uri="{FF2B5EF4-FFF2-40B4-BE49-F238E27FC236}">
                <a16:creationId xmlns:a16="http://schemas.microsoft.com/office/drawing/2014/main" id="{08D7F5E6-EB31-4596-ABE6-AF73C42FF6D5}"/>
              </a:ext>
            </a:extLst>
          </p:cNvPr>
          <p:cNvSpPr>
            <a:spLocks xmlns:a="http://schemas.openxmlformats.org/drawingml/2006/main" noGrp="1"/>
          </p:cNvSpPr>
          <p:nvPr/>
        </p:nvSpPr>
        <p:spPr>
          <a:xfrm xmlns:a="http://schemas.openxmlformats.org/drawingml/2006/main">
            <a:off x="609600" y="50768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A web platform connects exam setup, evidence, cases and reports.</a:t>
            </a:r>
          </a:p>
        </p:txBody>
      </p:sp>
      <p:sp>
        <p:nvSpPr>
          <p:cNvPr id="13" name="">
            <a:extLst xmlns:a="http://schemas.openxmlformats.org/drawingml/2006/main">
              <a:ext uri="{FF2B5EF4-FFF2-40B4-BE49-F238E27FC236}">
                <a16:creationId xmlns:a16="http://schemas.microsoft.com/office/drawing/2014/main" id="{FA5FFF69-9A69-4EB8-8AD1-8D1EDF9083FC}"/>
              </a:ext>
            </a:extLst>
          </p:cNvPr>
          <p:cNvSpPr>
            <a:spLocks xmlns:a="http://schemas.openxmlformats.org/drawingml/2006/main" noGrp="1"/>
          </p:cNvSpPr>
          <p:nvPr/>
        </p:nvSpPr>
        <p:spPr>
          <a:xfrm xmlns:a="http://schemas.openxmlformats.org/drawingml/2006/main">
            <a:off x="6219825" y="2019300"/>
            <a:ext cx="9525" cy="3638550"/>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14" name="copy">
            <a:extLst xmlns:a="http://schemas.openxmlformats.org/drawingml/2006/main">
              <a:ext uri="{FF2B5EF4-FFF2-40B4-BE49-F238E27FC236}">
                <a16:creationId xmlns:a16="http://schemas.microsoft.com/office/drawing/2014/main" id="{85E46359-9A26-466C-B818-A6F10EA7E8D6}"/>
              </a:ext>
            </a:extLst>
          </p:cNvPr>
          <p:cNvSpPr>
            <a:spLocks xmlns:a="http://schemas.openxmlformats.org/drawingml/2006/main" noGrp="1"/>
          </p:cNvSpPr>
          <p:nvPr/>
        </p:nvSpPr>
        <p:spPr>
          <a:xfrm xmlns:a="http://schemas.openxmlformats.org/drawingml/2006/main">
            <a:off x="6686550" y="2000250"/>
            <a:ext cx="4762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0B9AB9"/>
                </a:solidFill>
                <a:latin typeface="Arial"/>
                <a:ea typeface="Arial"/>
                <a:cs typeface="Arial"/>
              </a:defRPr>
            </a:pPr>
            <a:r>
              <a:rPr sz="2300" b="1">
                <a:solidFill>
                  <a:srgbClr val="0B9AB9"/>
                </a:solidFill>
                <a:latin typeface="Arial"/>
                <a:ea typeface="Arial"/>
                <a:cs typeface="Arial"/>
              </a:rPr>
              <a:t>Current demonstration</a:t>
            </a:r>
          </a:p>
        </p:txBody>
      </p:sp>
      <p:sp>
        <p:nvSpPr>
          <p:cNvPr id="15" name="copy">
            <a:extLst xmlns:a="http://schemas.openxmlformats.org/drawingml/2006/main">
              <a:ext uri="{FF2B5EF4-FFF2-40B4-BE49-F238E27FC236}">
                <a16:creationId xmlns:a16="http://schemas.microsoft.com/office/drawing/2014/main" id="{E490BF72-FB91-4976-95F3-117E82153D8B}"/>
              </a:ext>
            </a:extLst>
          </p:cNvPr>
          <p:cNvSpPr>
            <a:spLocks xmlns:a="http://schemas.openxmlformats.org/drawingml/2006/main" noGrp="1"/>
          </p:cNvSpPr>
          <p:nvPr/>
        </p:nvSpPr>
        <p:spPr>
          <a:xfrm xmlns:a="http://schemas.openxmlformats.org/drawingml/2006/main">
            <a:off x="6686550" y="2552700"/>
            <a:ext cx="46386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1">
                <a:solidFill>
                  <a:srgbClr val="142A3B"/>
                </a:solidFill>
                <a:latin typeface="Arial"/>
                <a:ea typeface="Arial"/>
                <a:cs typeface="Arial"/>
              </a:defRPr>
            </a:pPr>
            <a:r>
              <a:rPr sz="2500" b="1">
                <a:solidFill>
                  <a:srgbClr val="142A3B"/>
                </a:solidFill>
                <a:latin typeface="Arial"/>
                <a:ea typeface="Arial"/>
                <a:cs typeface="Arial"/>
              </a:rPr>
              <a:t>One clearly visible student per webcam, explicitly linked to a registered seat.</a:t>
            </a:r>
          </a:p>
        </p:txBody>
      </p:sp>
      <p:sp>
        <p:nvSpPr>
          <p:cNvPr id="16" name="copy">
            <a:extLst xmlns:a="http://schemas.openxmlformats.org/drawingml/2006/main">
              <a:ext uri="{FF2B5EF4-FFF2-40B4-BE49-F238E27FC236}">
                <a16:creationId xmlns:a16="http://schemas.microsoft.com/office/drawing/2014/main" id="{78795788-3F6D-45E0-AB1C-6EEB0397BE6F}"/>
              </a:ext>
            </a:extLst>
          </p:cNvPr>
          <p:cNvSpPr>
            <a:spLocks xmlns:a="http://schemas.openxmlformats.org/drawingml/2006/main" noGrp="1"/>
          </p:cNvSpPr>
          <p:nvPr/>
        </p:nvSpPr>
        <p:spPr>
          <a:xfrm xmlns:a="http://schemas.openxmlformats.org/drawingml/2006/main">
            <a:off x="6686550" y="4229100"/>
            <a:ext cx="4572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Phase 2 exclusions</a:t>
            </a:r>
          </a:p>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Multi-camera synchronization, audio monitoring, facial identity matching and SIS integration.</a:t>
            </a:r>
          </a:p>
        </p:txBody>
      </p:sp>
    </p:spTree>
    <p:extLst>
      <p:ext uri="{BB962C8B-B14F-4D97-AF65-F5344CB8AC3E}">
        <p14:creationId xmlns:p14="http://schemas.microsoft.com/office/powerpoint/2010/main" val="116792772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1B72A8A7-F37C-4D7B-A32B-197E18573179}"/>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WHAT THE SYSTEM SHOULD ACHIEVE</a:t>
            </a:r>
          </a:p>
        </p:txBody>
      </p:sp>
      <p:sp>
        <p:nvSpPr>
          <p:cNvPr id="2" name="slide-title">
            <a:extLst xmlns:a="http://schemas.openxmlformats.org/drawingml/2006/main">
              <a:ext uri="{FF2B5EF4-FFF2-40B4-BE49-F238E27FC236}">
                <a16:creationId xmlns:a16="http://schemas.microsoft.com/office/drawing/2014/main" id="{818B6380-573F-45CF-9166-C2573F234D81}"/>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Project objectives</a:t>
            </a:r>
          </a:p>
        </p:txBody>
      </p:sp>
      <p:sp>
        <p:nvSpPr>
          <p:cNvPr id="3" name="">
            <a:extLst xmlns:a="http://schemas.openxmlformats.org/drawingml/2006/main">
              <a:ext uri="{FF2B5EF4-FFF2-40B4-BE49-F238E27FC236}">
                <a16:creationId xmlns:a16="http://schemas.microsoft.com/office/drawing/2014/main" id="{E4809B89-DA5C-4EF4-8AB5-758405FCCC1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D6F043A2-26A6-443E-8F96-5273340B067F}"/>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61B6A0F1-D88B-407F-AD42-008F2EBB21B0}"/>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398285C6-8560-4CE0-886C-FB8FAF5A5610}"/>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04</a:t>
            </a:r>
          </a:p>
        </p:txBody>
      </p:sp>
      <p:sp>
        <p:nvSpPr>
          <p:cNvPr id="7" name="copy">
            <a:extLst xmlns:a="http://schemas.openxmlformats.org/drawingml/2006/main">
              <a:ext uri="{FF2B5EF4-FFF2-40B4-BE49-F238E27FC236}">
                <a16:creationId xmlns:a16="http://schemas.microsoft.com/office/drawing/2014/main" id="{6EBE07DB-61FB-4DCC-A442-1E61236C3050}"/>
              </a:ext>
            </a:extLst>
          </p:cNvPr>
          <p:cNvSpPr>
            <a:spLocks xmlns:a="http://schemas.openxmlformats.org/drawingml/2006/main" noGrp="1"/>
          </p:cNvSpPr>
          <p:nvPr/>
        </p:nvSpPr>
        <p:spPr>
          <a:xfrm xmlns:a="http://schemas.openxmlformats.org/drawingml/2006/main">
            <a:off x="609600" y="1971675"/>
            <a:ext cx="71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0B9AB9"/>
                </a:solidFill>
                <a:latin typeface="Arial"/>
                <a:ea typeface="Arial"/>
                <a:cs typeface="Arial"/>
              </a:defRPr>
            </a:pPr>
            <a:r>
              <a:rPr sz="3000" b="1">
                <a:solidFill>
                  <a:srgbClr val="0B9AB9"/>
                </a:solidFill>
                <a:latin typeface="Arial"/>
                <a:ea typeface="Arial"/>
                <a:cs typeface="Arial"/>
              </a:rPr>
              <a:t>01</a:t>
            </a:r>
          </a:p>
        </p:txBody>
      </p:sp>
      <p:sp>
        <p:nvSpPr>
          <p:cNvPr id="8" name="copy">
            <a:extLst xmlns:a="http://schemas.openxmlformats.org/drawingml/2006/main">
              <a:ext uri="{FF2B5EF4-FFF2-40B4-BE49-F238E27FC236}">
                <a16:creationId xmlns:a16="http://schemas.microsoft.com/office/drawing/2014/main" id="{AB1F9697-9B02-4A69-9BF2-AAA7E32541B1}"/>
              </a:ext>
            </a:extLst>
          </p:cNvPr>
          <p:cNvSpPr>
            <a:spLocks xmlns:a="http://schemas.openxmlformats.org/drawingml/2006/main" noGrp="1"/>
          </p:cNvSpPr>
          <p:nvPr/>
        </p:nvSpPr>
        <p:spPr>
          <a:xfrm xmlns:a="http://schemas.openxmlformats.org/drawingml/2006/main">
            <a:off x="1628775" y="1971675"/>
            <a:ext cx="990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1">
                <a:solidFill>
                  <a:srgbClr val="142A3B"/>
                </a:solidFill>
                <a:latin typeface="Arial"/>
                <a:ea typeface="Arial"/>
                <a:cs typeface="Arial"/>
              </a:defRPr>
            </a:pPr>
            <a:r>
              <a:rPr sz="2500" b="1">
                <a:solidFill>
                  <a:srgbClr val="142A3B"/>
                </a:solidFill>
                <a:latin typeface="Arial"/>
                <a:ea typeface="Arial"/>
                <a:cs typeface="Arial"/>
              </a:rPr>
              <a:t>Identify events that need attention</a:t>
            </a:r>
          </a:p>
        </p:txBody>
      </p:sp>
      <p:sp>
        <p:nvSpPr>
          <p:cNvPr id="9" name="copy">
            <a:extLst xmlns:a="http://schemas.openxmlformats.org/drawingml/2006/main">
              <a:ext uri="{FF2B5EF4-FFF2-40B4-BE49-F238E27FC236}">
                <a16:creationId xmlns:a16="http://schemas.microsoft.com/office/drawing/2014/main" id="{5807D25C-2F23-4A72-9D18-19D0A5951829}"/>
              </a:ext>
            </a:extLst>
          </p:cNvPr>
          <p:cNvSpPr>
            <a:spLocks xmlns:a="http://schemas.openxmlformats.org/drawingml/2006/main" noGrp="1"/>
          </p:cNvSpPr>
          <p:nvPr/>
        </p:nvSpPr>
        <p:spPr>
          <a:xfrm xmlns:a="http://schemas.openxmlformats.org/drawingml/2006/main">
            <a:off x="1628775" y="24003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Detect visible phones, books and sustained head movement.</a:t>
            </a:r>
          </a:p>
        </p:txBody>
      </p:sp>
      <p:sp>
        <p:nvSpPr>
          <p:cNvPr id="10" name="copy">
            <a:extLst xmlns:a="http://schemas.openxmlformats.org/drawingml/2006/main">
              <a:ext uri="{FF2B5EF4-FFF2-40B4-BE49-F238E27FC236}">
                <a16:creationId xmlns:a16="http://schemas.microsoft.com/office/drawing/2014/main" id="{54F6A8F9-F667-4175-8419-F4709835B4FC}"/>
              </a:ext>
            </a:extLst>
          </p:cNvPr>
          <p:cNvSpPr>
            <a:spLocks xmlns:a="http://schemas.openxmlformats.org/drawingml/2006/main" noGrp="1"/>
          </p:cNvSpPr>
          <p:nvPr/>
        </p:nvSpPr>
        <p:spPr>
          <a:xfrm xmlns:a="http://schemas.openxmlformats.org/drawingml/2006/main">
            <a:off x="609600" y="2962275"/>
            <a:ext cx="71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0B9AB9"/>
                </a:solidFill>
                <a:latin typeface="Arial"/>
                <a:ea typeface="Arial"/>
                <a:cs typeface="Arial"/>
              </a:defRPr>
            </a:pPr>
            <a:r>
              <a:rPr sz="3000" b="1">
                <a:solidFill>
                  <a:srgbClr val="0B9AB9"/>
                </a:solidFill>
                <a:latin typeface="Arial"/>
                <a:ea typeface="Arial"/>
                <a:cs typeface="Arial"/>
              </a:rPr>
              <a:t>02</a:t>
            </a:r>
          </a:p>
        </p:txBody>
      </p:sp>
      <p:sp>
        <p:nvSpPr>
          <p:cNvPr id="11" name="copy">
            <a:extLst xmlns:a="http://schemas.openxmlformats.org/drawingml/2006/main">
              <a:ext uri="{FF2B5EF4-FFF2-40B4-BE49-F238E27FC236}">
                <a16:creationId xmlns:a16="http://schemas.microsoft.com/office/drawing/2014/main" id="{65961A02-AA95-40AF-AAA6-88C039F926F2}"/>
              </a:ext>
            </a:extLst>
          </p:cNvPr>
          <p:cNvSpPr>
            <a:spLocks xmlns:a="http://schemas.openxmlformats.org/drawingml/2006/main" noGrp="1"/>
          </p:cNvSpPr>
          <p:nvPr/>
        </p:nvSpPr>
        <p:spPr>
          <a:xfrm xmlns:a="http://schemas.openxmlformats.org/drawingml/2006/main">
            <a:off x="1628775" y="2962275"/>
            <a:ext cx="990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1">
                <a:solidFill>
                  <a:srgbClr val="142A3B"/>
                </a:solidFill>
                <a:latin typeface="Arial"/>
                <a:ea typeface="Arial"/>
                <a:cs typeface="Arial"/>
              </a:defRPr>
            </a:pPr>
            <a:r>
              <a:rPr sz="2500" b="1">
                <a:solidFill>
                  <a:srgbClr val="142A3B"/>
                </a:solidFill>
                <a:latin typeface="Arial"/>
                <a:ea typeface="Arial"/>
                <a:cs typeface="Arial"/>
              </a:rPr>
              <a:t>Deliver useful alerts</a:t>
            </a:r>
          </a:p>
        </p:txBody>
      </p:sp>
      <p:sp>
        <p:nvSpPr>
          <p:cNvPr id="12" name="copy">
            <a:extLst xmlns:a="http://schemas.openxmlformats.org/drawingml/2006/main">
              <a:ext uri="{FF2B5EF4-FFF2-40B4-BE49-F238E27FC236}">
                <a16:creationId xmlns:a16="http://schemas.microsoft.com/office/drawing/2014/main" id="{2911B044-A25C-40DB-B5D6-F2D82E5FCBE3}"/>
              </a:ext>
            </a:extLst>
          </p:cNvPr>
          <p:cNvSpPr>
            <a:spLocks xmlns:a="http://schemas.openxmlformats.org/drawingml/2006/main" noGrp="1"/>
          </p:cNvSpPr>
          <p:nvPr/>
        </p:nvSpPr>
        <p:spPr>
          <a:xfrm xmlns:a="http://schemas.openxmlformats.org/drawingml/2006/main">
            <a:off x="1628775" y="33909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Link the event to an exam, student seat and evidence.</a:t>
            </a:r>
          </a:p>
        </p:txBody>
      </p:sp>
      <p:sp>
        <p:nvSpPr>
          <p:cNvPr id="13" name="copy">
            <a:extLst xmlns:a="http://schemas.openxmlformats.org/drawingml/2006/main">
              <a:ext uri="{FF2B5EF4-FFF2-40B4-BE49-F238E27FC236}">
                <a16:creationId xmlns:a16="http://schemas.microsoft.com/office/drawing/2014/main" id="{8F036A05-90FD-4F40-9045-0C956DB54CE3}"/>
              </a:ext>
            </a:extLst>
          </p:cNvPr>
          <p:cNvSpPr>
            <a:spLocks xmlns:a="http://schemas.openxmlformats.org/drawingml/2006/main" noGrp="1"/>
          </p:cNvSpPr>
          <p:nvPr/>
        </p:nvSpPr>
        <p:spPr>
          <a:xfrm xmlns:a="http://schemas.openxmlformats.org/drawingml/2006/main">
            <a:off x="609600" y="3952875"/>
            <a:ext cx="71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0B9AB9"/>
                </a:solidFill>
                <a:latin typeface="Arial"/>
                <a:ea typeface="Arial"/>
                <a:cs typeface="Arial"/>
              </a:defRPr>
            </a:pPr>
            <a:r>
              <a:rPr sz="3000" b="1">
                <a:solidFill>
                  <a:srgbClr val="0B9AB9"/>
                </a:solidFill>
                <a:latin typeface="Arial"/>
                <a:ea typeface="Arial"/>
                <a:cs typeface="Arial"/>
              </a:rPr>
              <a:t>03</a:t>
            </a:r>
          </a:p>
        </p:txBody>
      </p:sp>
      <p:sp>
        <p:nvSpPr>
          <p:cNvPr id="14" name="copy">
            <a:extLst xmlns:a="http://schemas.openxmlformats.org/drawingml/2006/main">
              <a:ext uri="{FF2B5EF4-FFF2-40B4-BE49-F238E27FC236}">
                <a16:creationId xmlns:a16="http://schemas.microsoft.com/office/drawing/2014/main" id="{284BD805-2BC8-4BCE-9C0F-9F358A434FC4}"/>
              </a:ext>
            </a:extLst>
          </p:cNvPr>
          <p:cNvSpPr>
            <a:spLocks xmlns:a="http://schemas.openxmlformats.org/drawingml/2006/main" noGrp="1"/>
          </p:cNvSpPr>
          <p:nvPr/>
        </p:nvSpPr>
        <p:spPr>
          <a:xfrm xmlns:a="http://schemas.openxmlformats.org/drawingml/2006/main">
            <a:off x="1628775" y="3952875"/>
            <a:ext cx="990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1">
                <a:solidFill>
                  <a:srgbClr val="142A3B"/>
                </a:solidFill>
                <a:latin typeface="Arial"/>
                <a:ea typeface="Arial"/>
                <a:cs typeface="Arial"/>
              </a:defRPr>
            </a:pPr>
            <a:r>
              <a:rPr sz="2500" b="1">
                <a:solidFill>
                  <a:srgbClr val="142A3B"/>
                </a:solidFill>
                <a:latin typeface="Arial"/>
                <a:ea typeface="Arial"/>
                <a:cs typeface="Arial"/>
              </a:rPr>
              <a:t>Support a fair decision process</a:t>
            </a:r>
          </a:p>
        </p:txBody>
      </p:sp>
      <p:sp>
        <p:nvSpPr>
          <p:cNvPr id="15" name="copy">
            <a:extLst xmlns:a="http://schemas.openxmlformats.org/drawingml/2006/main">
              <a:ext uri="{FF2B5EF4-FFF2-40B4-BE49-F238E27FC236}">
                <a16:creationId xmlns:a16="http://schemas.microsoft.com/office/drawing/2014/main" id="{2C1C75E9-A520-40C0-9F60-D37C63257292}"/>
              </a:ext>
            </a:extLst>
          </p:cNvPr>
          <p:cNvSpPr>
            <a:spLocks xmlns:a="http://schemas.openxmlformats.org/drawingml/2006/main" noGrp="1"/>
          </p:cNvSpPr>
          <p:nvPr/>
        </p:nvSpPr>
        <p:spPr>
          <a:xfrm xmlns:a="http://schemas.openxmlformats.org/drawingml/2006/main">
            <a:off x="1628775" y="43815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Connect teacher review, HOD decisions and student appeals.</a:t>
            </a:r>
          </a:p>
        </p:txBody>
      </p:sp>
      <p:sp>
        <p:nvSpPr>
          <p:cNvPr id="16" name="copy">
            <a:extLst xmlns:a="http://schemas.openxmlformats.org/drawingml/2006/main">
              <a:ext uri="{FF2B5EF4-FFF2-40B4-BE49-F238E27FC236}">
                <a16:creationId xmlns:a16="http://schemas.microsoft.com/office/drawing/2014/main" id="{E2BB457D-DC34-49A7-B1E3-24B81465CDDC}"/>
              </a:ext>
            </a:extLst>
          </p:cNvPr>
          <p:cNvSpPr>
            <a:spLocks xmlns:a="http://schemas.openxmlformats.org/drawingml/2006/main" noGrp="1"/>
          </p:cNvSpPr>
          <p:nvPr/>
        </p:nvSpPr>
        <p:spPr>
          <a:xfrm xmlns:a="http://schemas.openxmlformats.org/drawingml/2006/main">
            <a:off x="609600" y="4943475"/>
            <a:ext cx="714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0B9AB9"/>
                </a:solidFill>
                <a:latin typeface="Arial"/>
                <a:ea typeface="Arial"/>
                <a:cs typeface="Arial"/>
              </a:defRPr>
            </a:pPr>
            <a:r>
              <a:rPr sz="3000" b="1">
                <a:solidFill>
                  <a:srgbClr val="0B9AB9"/>
                </a:solidFill>
                <a:latin typeface="Arial"/>
                <a:ea typeface="Arial"/>
                <a:cs typeface="Arial"/>
              </a:rPr>
              <a:t>04</a:t>
            </a:r>
          </a:p>
        </p:txBody>
      </p:sp>
      <p:sp>
        <p:nvSpPr>
          <p:cNvPr id="17" name="copy">
            <a:extLst xmlns:a="http://schemas.openxmlformats.org/drawingml/2006/main">
              <a:ext uri="{FF2B5EF4-FFF2-40B4-BE49-F238E27FC236}">
                <a16:creationId xmlns:a16="http://schemas.microsoft.com/office/drawing/2014/main" id="{4E136347-2E63-40D5-8C87-148A79A7B870}"/>
              </a:ext>
            </a:extLst>
          </p:cNvPr>
          <p:cNvSpPr>
            <a:spLocks xmlns:a="http://schemas.openxmlformats.org/drawingml/2006/main" noGrp="1"/>
          </p:cNvSpPr>
          <p:nvPr/>
        </p:nvSpPr>
        <p:spPr>
          <a:xfrm xmlns:a="http://schemas.openxmlformats.org/drawingml/2006/main">
            <a:off x="1628775" y="4943475"/>
            <a:ext cx="9906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1">
                <a:solidFill>
                  <a:srgbClr val="142A3B"/>
                </a:solidFill>
                <a:latin typeface="Arial"/>
                <a:ea typeface="Arial"/>
                <a:cs typeface="Arial"/>
              </a:defRPr>
            </a:pPr>
            <a:r>
              <a:rPr sz="2500" b="1">
                <a:solidFill>
                  <a:srgbClr val="142A3B"/>
                </a:solidFill>
                <a:latin typeface="Arial"/>
                <a:ea typeface="Arial"/>
                <a:cs typeface="Arial"/>
              </a:rPr>
              <a:t>Reduce administrative work</a:t>
            </a:r>
          </a:p>
        </p:txBody>
      </p:sp>
      <p:sp>
        <p:nvSpPr>
          <p:cNvPr id="18" name="copy">
            <a:extLst xmlns:a="http://schemas.openxmlformats.org/drawingml/2006/main">
              <a:ext uri="{FF2B5EF4-FFF2-40B4-BE49-F238E27FC236}">
                <a16:creationId xmlns:a16="http://schemas.microsoft.com/office/drawing/2014/main" id="{B24A82D4-045F-44C1-8068-237574350654}"/>
              </a:ext>
            </a:extLst>
          </p:cNvPr>
          <p:cNvSpPr>
            <a:spLocks xmlns:a="http://schemas.openxmlformats.org/drawingml/2006/main" noGrp="1"/>
          </p:cNvSpPr>
          <p:nvPr/>
        </p:nvSpPr>
        <p:spPr>
          <a:xfrm xmlns:a="http://schemas.openxmlformats.org/drawingml/2006/main">
            <a:off x="1628775" y="53721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Automate setup, preserve records and provide reports.</a:t>
            </a:r>
          </a:p>
        </p:txBody>
      </p:sp>
    </p:spTree>
    <p:extLst>
      <p:ext uri="{BB962C8B-B14F-4D97-AF65-F5344CB8AC3E}">
        <p14:creationId xmlns:p14="http://schemas.microsoft.com/office/powerpoint/2010/main" val="762029542"/>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57736559-0AB5-457F-93AC-53A04466BC3F}"/>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IMPLEMENTATION</a:t>
            </a:r>
          </a:p>
        </p:txBody>
      </p:sp>
      <p:sp>
        <p:nvSpPr>
          <p:cNvPr id="2" name="slide-title">
            <a:extLst xmlns:a="http://schemas.openxmlformats.org/drawingml/2006/main">
              <a:ext uri="{FF2B5EF4-FFF2-40B4-BE49-F238E27FC236}">
                <a16:creationId xmlns:a16="http://schemas.microsoft.com/office/drawing/2014/main" id="{1CDC6445-23F3-4CFF-880B-E7BB1156E07D}"/>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Major modules and system structure</a:t>
            </a:r>
          </a:p>
        </p:txBody>
      </p:sp>
      <p:sp>
        <p:nvSpPr>
          <p:cNvPr id="3" name="">
            <a:extLst xmlns:a="http://schemas.openxmlformats.org/drawingml/2006/main">
              <a:ext uri="{FF2B5EF4-FFF2-40B4-BE49-F238E27FC236}">
                <a16:creationId xmlns:a16="http://schemas.microsoft.com/office/drawing/2014/main" id="{17D6E62C-DB69-4123-8040-195C22EA2C1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4DD70F75-D73B-432E-AA61-B14DB39ED8AD}"/>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5919C02C-0594-40A8-AE5A-9D2175C41EAE}"/>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EE806B94-EDDB-478E-A1EC-AD5A0C06D345}"/>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05</a:t>
            </a:r>
          </a:p>
        </p:txBody>
      </p:sp>
      <p:graphicFrame>
        <p:nvGraphicFramePr>
          <p:cNvPr id="15" name=""/>
          <p:cNvGraphicFramePr/>
          <p:nvPr/>
        </p:nvGraphicFramePr>
        <p:xfrm>
          <a:off xmlns:a="http://schemas.openxmlformats.org/drawingml/2006/main" x="609600" y="1971675"/>
          <a:ext xmlns:a="http://schemas.openxmlformats.org/drawingml/2006/main" cx="10972800" cy="3800475"/>
        </p:xfrm>
        <a:graphic xmlns:a="http://schemas.openxmlformats.org/drawingml/2006/main">
          <a:graphicData uri="http://schemas.openxmlformats.org/drawingml/2006/table">
            <a:tbl>
              <a:tblPr/>
              <a:tblGrid>
                <a:gridCol w="2190750"/>
                <a:gridCol w="3867150"/>
                <a:gridCol w="4914900"/>
              </a:tblGrid>
              <a:tr h="476250">
                <a:tc>
                  <a:txBody>
                    <a:bodyPr lIns="123825" tIns="76200" rIns="104775" bIns="76200"/>
                    <a:lstStyle/>
                    <a:p>
                      <a:r>
                        <a:rPr sz="1600" b="1">
                          <a:solidFill>
                            <a:srgbClr val="FFFFFF"/>
                          </a:solidFill>
                          <a:latin typeface="Arial"/>
                          <a:ea typeface="Arial"/>
                          <a:cs typeface="Arial"/>
                        </a:rPr>
                        <a:t>Module</a:t>
                      </a:r>
                    </a:p>
                  </a:txBody>
                  <a:tcPr marL="91440" marR="91440" marT="45720" marB="45720" anchor="ctr">
                    <a:solidFill>
                      <a:srgbClr val="0C1B2B"/>
                    </a:solidFill>
                  </a:tcPr>
                </a:tc>
                <a:tc>
                  <a:txBody>
                    <a:bodyPr lIns="123825" tIns="76200" rIns="104775" bIns="76200"/>
                    <a:lstStyle/>
                    <a:p>
                      <a:r>
                        <a:rPr sz="1600" b="1">
                          <a:solidFill>
                            <a:srgbClr val="FFFFFF"/>
                          </a:solidFill>
                          <a:latin typeface="Arial"/>
                          <a:ea typeface="Arial"/>
                          <a:cs typeface="Arial"/>
                        </a:rPr>
                        <a:t>Current technology</a:t>
                      </a:r>
                    </a:p>
                  </a:txBody>
                  <a:tcPr marL="91440" marR="91440" marT="45720" marB="45720" anchor="ctr">
                    <a:solidFill>
                      <a:srgbClr val="0C1B2B"/>
                    </a:solidFill>
                  </a:tcPr>
                </a:tc>
                <a:tc>
                  <a:txBody>
                    <a:bodyPr lIns="123825" tIns="76200" rIns="104775" bIns="76200"/>
                    <a:lstStyle/>
                    <a:p>
                      <a:r>
                        <a:rPr sz="1600" b="1">
                          <a:solidFill>
                            <a:srgbClr val="FFFFFF"/>
                          </a:solidFill>
                          <a:latin typeface="Arial"/>
                          <a:ea typeface="Arial"/>
                          <a:cs typeface="Arial"/>
                        </a:rPr>
                        <a:t>Purpose</a:t>
                      </a:r>
                    </a:p>
                  </a:txBody>
                  <a:tcPr marL="91440" marR="91440" marT="45720" marB="45720" anchor="ctr">
                    <a:solidFill>
                      <a:srgbClr val="0C1B2B"/>
                    </a:solidFill>
                  </a:tcPr>
                </a:tc>
              </a:tr>
              <a:tr h="664845">
                <a:tc>
                  <a:txBody>
                    <a:bodyPr lIns="123825" tIns="76200" rIns="104775" bIns="76200"/>
                    <a:lstStyle/>
                    <a:p>
                      <a:r>
                        <a:rPr sz="1700" b="1">
                          <a:solidFill>
                            <a:srgbClr val="142A3B"/>
                          </a:solidFill>
                          <a:latin typeface="Arial"/>
                          <a:ea typeface="Arial"/>
                          <a:cs typeface="Arial"/>
                        </a:rPr>
                        <a:t>AI monitoring</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Python, OpenCV, MediaPipe, Grounding DINO</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Camera, head pose, phone and book recognition</a:t>
                      </a:r>
                    </a:p>
                  </a:txBody>
                  <a:tcPr marL="91440" marR="91440" marT="45720" marB="45720" anchor="ctr">
                    <a:solidFill>
                      <a:srgbClr val="FFFFFF"/>
                    </a:solidFill>
                  </a:tcPr>
                </a:tc>
              </a:tr>
              <a:tr h="664845">
                <a:tc>
                  <a:txBody>
                    <a:bodyPr lIns="123825" tIns="76200" rIns="104775" bIns="76200"/>
                    <a:lstStyle/>
                    <a:p>
                      <a:r>
                        <a:rPr sz="1700" b="1">
                          <a:solidFill>
                            <a:srgbClr val="142A3B"/>
                          </a:solidFill>
                          <a:latin typeface="Arial"/>
                          <a:ea typeface="Arial"/>
                          <a:cs typeface="Arial"/>
                        </a:rPr>
                        <a:t>Web portals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React, TypeScript, Tailwind CSS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Five portals, light and dark modes</a:t>
                      </a:r>
                    </a:p>
                  </a:txBody>
                  <a:tcPr marL="91440" marR="91440" marT="45720" marB="45720" anchor="ctr">
                    <a:solidFill>
                      <a:srgbClr val="EAF1F5"/>
                    </a:solidFill>
                  </a:tcPr>
                </a:tc>
              </a:tr>
              <a:tr h="664845">
                <a:tc>
                  <a:txBody>
                    <a:bodyPr lIns="123825" tIns="76200" rIns="104775" bIns="76200"/>
                    <a:lstStyle/>
                    <a:p>
                      <a:r>
                        <a:rPr sz="1700" b="1">
                          <a:solidFill>
                            <a:srgbClr val="142A3B"/>
                          </a:solidFill>
                          <a:latin typeface="Arial"/>
                          <a:ea typeface="Arial"/>
                          <a:cs typeface="Arial"/>
                        </a:rPr>
                        <a:t>Core services</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FastAPI, Socket.IO, PostgreSQL, Redis</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Permissions, live updates, cases and records</a:t>
                      </a:r>
                    </a:p>
                  </a:txBody>
                  <a:tcPr marL="91440" marR="91440" marT="45720" marB="45720" anchor="ctr">
                    <a:solidFill>
                      <a:srgbClr val="FFFFFF"/>
                    </a:solidFill>
                  </a:tcPr>
                </a:tc>
              </a:tr>
              <a:tr h="664845">
                <a:tc>
                  <a:txBody>
                    <a:bodyPr lIns="123825" tIns="76200" rIns="104775" bIns="76200"/>
                    <a:lstStyle/>
                    <a:p>
                      <a:r>
                        <a:rPr sz="1700" b="1">
                          <a:solidFill>
                            <a:srgbClr val="142A3B"/>
                          </a:solidFill>
                          <a:latin typeface="Arial"/>
                          <a:ea typeface="Arial"/>
                          <a:cs typeface="Arial"/>
                        </a:rPr>
                        <a:t>Exam setup</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CSV import and seat-map tools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Rosters, rooms, schedules and assignments</a:t>
                      </a:r>
                    </a:p>
                  </a:txBody>
                  <a:tcPr marL="91440" marR="91440" marT="45720" marB="45720" anchor="ctr">
                    <a:solidFill>
                      <a:srgbClr val="EAF1F5"/>
                    </a:solidFill>
                  </a:tcPr>
                </a:tc>
              </a:tr>
              <a:tr h="664845">
                <a:tc>
                  <a:txBody>
                    <a:bodyPr lIns="123825" tIns="76200" rIns="104775" bIns="76200"/>
                    <a:lstStyle/>
                    <a:p>
                      <a:r>
                        <a:rPr sz="1700" b="1">
                          <a:solidFill>
                            <a:srgbClr val="142A3B"/>
                          </a:solidFill>
                          <a:latin typeface="Arial"/>
                          <a:ea typeface="Arial"/>
                          <a:cs typeface="Arial"/>
                        </a:rPr>
                        <a:t>Notices and devices</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Template/AI notices, MQTT connector</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Text notices ready; PDF, email and hardware pending</a:t>
                      </a:r>
                    </a:p>
                  </a:txBody>
                  <a:tcPr marL="91440" marR="91440" marT="45720" marB="45720" anchor="ctr">
                    <a:solidFill>
                      <a:srgbClr val="FFFFFF"/>
                    </a:solidFill>
                  </a:tcPr>
                </a:tc>
              </a:tr>
            </a:tbl>
          </a:graphicData>
        </a:graphic>
      </p:graphicFrame>
      <p:sp>
        <p:nvSpPr>
          <p:cNvPr id="8" name="copy">
            <a:extLst xmlns:a="http://schemas.openxmlformats.org/drawingml/2006/main">
              <a:ext uri="{FF2B5EF4-FFF2-40B4-BE49-F238E27FC236}">
                <a16:creationId xmlns:a16="http://schemas.microsoft.com/office/drawing/2014/main" id="{C1BCAD34-A1B9-4FD0-85BE-07130193D94B}"/>
              </a:ext>
            </a:extLst>
          </p:cNvPr>
          <p:cNvSpPr>
            <a:spLocks xmlns:a="http://schemas.openxmlformats.org/drawingml/2006/main" noGrp="1"/>
          </p:cNvSpPr>
          <p:nvPr/>
        </p:nvSpPr>
        <p:spPr>
          <a:xfrm xmlns:a="http://schemas.openxmlformats.org/drawingml/2006/main">
            <a:off x="609600" y="5905500"/>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00" b="1">
                <a:solidFill>
                  <a:srgbClr val="0B9AB9"/>
                </a:solidFill>
                <a:latin typeface="Arial"/>
                <a:ea typeface="Arial"/>
                <a:cs typeface="Arial"/>
              </a:defRPr>
            </a:pPr>
            <a:r>
              <a:rPr sz="1900" b="1">
                <a:solidFill>
                  <a:srgbClr val="0B9AB9"/>
                </a:solidFill>
                <a:latin typeface="Arial"/>
                <a:ea typeface="Arial"/>
                <a:cs typeface="Arial"/>
              </a:rPr>
              <a:t>The camera, website and case workflow share the same authorized records.</a:t>
            </a:r>
          </a:p>
        </p:txBody>
      </p:sp>
    </p:spTree>
    <p:extLst>
      <p:ext uri="{BB962C8B-B14F-4D97-AF65-F5344CB8AC3E}">
        <p14:creationId xmlns:p14="http://schemas.microsoft.com/office/powerpoint/2010/main" val="527912686"/>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0C1B2B"/>
        </a:solidFill>
      </p:bgPr>
    </p:bg>
    <p:spTree>
      <p:nvGrpSpPr>
        <p:cNvPr id="1" name=""/>
        <p:cNvGrpSpPr/>
        <p:nvPr/>
      </p:nvGrpSpPr>
      <p:grpSpPr>
        <a:xfrm/>
      </p:grpSpPr>
      <p:sp>
        <p:nvSpPr>
          <p:cNvPr id="16" name="section">
            <a:extLst>
              <a:ext uri="{FF2B5EF4-FFF2-40B4-BE49-F238E27FC236}">
                <ns2:creationId id="{B3F8799A-408B-4906-B512-F5496A8FD3DB}"/>
              </a:ext>
            </a:extLst>
          </p:cNvPr>
          <p:cNvSpPr>
            <a:spLocks noGrp="1"/>
          </p:cNvSpPr>
          <p:nvPr/>
        </p:nvSpPr>
        <p:spPr>
          <a:xfrm>
            <a:off x="609600" y="323850"/>
            <a:ext cx="10572750" cy="266700"/>
          </a:xfrm>
          <a:prstGeom prst="rect">
            <a:avLst/>
          </a:prstGeom>
          <a:noFill/>
          <a:ln w="0">
            <a:noFill/>
          </a:ln>
        </p:spPr>
        <p:txBody>
          <a:bodyPr lIns="0" tIns="0" rIns="0" bIns="0" anchor="t">
            <a:noAutofit/>
          </a:bodyPr>
          <a:lstStyle/>
          <a:p>
            <a:pPr>
              <a:defRPr sz="1050" b="1">
                <a:solidFill>
                  <a:srgbClr val="B8D9E4"/>
                </a:solidFill>
                <a:latin typeface="Arial"/>
                <a:ea typeface="Arial"/>
                <a:cs typeface="Arial"/>
              </a:defRPr>
            </a:pPr>
            <a:r>
              <a:rPr sz="1050" b="1">
                <a:solidFill>
                  <a:srgbClr val="B8D9E4"/>
                </a:solidFill>
                <a:latin typeface="Arial"/>
                <a:ea typeface="Arial"/>
                <a:cs typeface="Arial"/>
              </a:rPr>
              <a:t>COMPLETED WORK</a:t>
            </a:r>
          </a:p>
        </p:txBody>
      </p:sp>
      <p:sp>
        <p:nvSpPr>
          <p:cNvPr id="2" name="slide-title">
            <a:extLst>
              <a:ext uri="{FF2B5EF4-FFF2-40B4-BE49-F238E27FC236}">
                <ns2:creationId id="{D3C5D333-30E9-4E19-8AF2-64D8FAA57335}"/>
              </a:ext>
            </a:extLst>
          </p:cNvPr>
          <p:cNvSpPr>
            <a:spLocks noGrp="1"/>
          </p:cNvSpPr>
          <p:nvPr/>
        </p:nvSpPr>
        <p:spPr>
          <a:xfrm>
            <a:off x="609600" y="733425"/>
            <a:ext cx="10953750" cy="695325"/>
          </a:xfrm>
          <a:prstGeom prst="rect">
            <a:avLst/>
          </a:prstGeom>
          <a:noFill/>
          <a:ln w="0">
            <a:noFill/>
          </a:ln>
        </p:spPr>
        <p:txBody>
          <a:bodyPr lIns="0" tIns="0" rIns="0" bIns="0" anchor="t">
            <a:noAutofit/>
          </a:bodyPr>
          <a:lstStyle/>
          <a:p>
            <a:pPr>
              <a:defRPr sz="3400" b="1">
                <a:solidFill>
                  <a:srgbClr val="FFFFFF"/>
                </a:solidFill>
                <a:latin typeface="Arial"/>
                <a:ea typeface="Arial"/>
                <a:cs typeface="Arial"/>
              </a:defRPr>
            </a:pPr>
            <a:r>
              <a:rPr sz="3400" b="1">
                <a:solidFill>
                  <a:srgbClr val="FFFFFF"/>
                </a:solidFill>
                <a:latin typeface="Arial"/>
                <a:ea typeface="Arial"/>
                <a:cs typeface="Arial"/>
              </a:rPr>
              <a:t>Phone and book detection</a:t>
            </a:r>
          </a:p>
        </p:txBody>
      </p:sp>
      <p:sp>
        <p:nvSpPr>
          <p:cNvPr id="3" name="subtitle">
            <a:extLst>
              <a:ext uri="{FF2B5EF4-FFF2-40B4-BE49-F238E27FC236}">
                <ns2:creationId id="{C02F12DA-17CC-4113-8EFF-FD7B6D586D05}"/>
              </a:ext>
            </a:extLst>
          </p:cNvPr>
          <p:cNvSpPr>
            <a:spLocks noGrp="1"/>
          </p:cNvSpPr>
          <p:nvPr/>
        </p:nvSpPr>
        <p:spPr>
          <a:xfrm>
            <a:off x="628650" y="1438275"/>
            <a:ext cx="10668000" cy="438150"/>
          </a:xfrm>
          <a:prstGeom prst="rect">
            <a:avLst/>
          </a:prstGeom>
          <a:noFill/>
          <a:ln w="0">
            <a:noFill/>
          </a:ln>
        </p:spPr>
        <p:txBody>
          <a:bodyPr lIns="0" tIns="0" rIns="0" bIns="0" anchor="t">
            <a:noAutofit/>
          </a:bodyPr>
          <a:lstStyle/>
          <a:p>
            <a:pPr>
              <a:defRPr sz="1700" b="0">
                <a:solidFill>
                  <a:srgbClr val="B8D9E4"/>
                </a:solidFill>
                <a:latin typeface="Arial"/>
                <a:ea typeface="Arial"/>
                <a:cs typeface="Arial"/>
              </a:defRPr>
            </a:pPr>
            <a:r>
              <a:rPr sz="1700" b="0">
                <a:solidFill>
                  <a:srgbClr val="B8D9E4"/>
                </a:solidFill>
                <a:latin typeface="Arial"/>
                <a:ea typeface="Arial"/>
                <a:cs typeface="Arial"/>
              </a:rPr>
              <a:t>Visible objects produce review alerts in the teacher portal.</a:t>
            </a:r>
          </a:p>
        </p:txBody>
      </p:sp>
      <p:sp>
        <p:nvSpPr>
          <p:cNvPr id="4" name="">
            <a:extLst>
              <a:ext uri="{FF2B5EF4-FFF2-40B4-BE49-F238E27FC236}">
                <ns2:creationId id="{449D09B9-5ECA-48C9-ABC8-0A3231A7510D}"/>
              </a:ext>
            </a:extLst>
          </p:cNvPr>
          <p:cNvSpPr>
            <a:spLocks noGrp="1"/>
          </p:cNvSpPr>
          <p:nvPr/>
        </p:nvSpPr>
        <p:spPr>
          <a:xfrm>
            <a:off x="609600" y="6305550"/>
            <a:ext cx="10972800" cy="9525"/>
          </a:xfrm>
          <a:prstGeom prst="rect">
            <a:avLst/>
          </a:prstGeom>
          <a:solidFill>
            <a:srgbClr val="284255"/>
          </a:solidFill>
          <a:ln w="0">
            <a:noFill/>
          </a:ln>
        </p:spPr>
      </p:sp>
      <p:sp>
        <p:nvSpPr>
          <p:cNvPr id="5" name="brand-footer">
            <a:extLst>
              <a:ext uri="{FF2B5EF4-FFF2-40B4-BE49-F238E27FC236}">
                <ns2:creationId id="{D9D4F29F-5AB6-4DBE-BF38-D7472CDC2529}"/>
              </a:ext>
            </a:extLst>
          </p:cNvPr>
          <p:cNvSpPr>
            <a:spLocks noGrp="1"/>
          </p:cNvSpPr>
          <p:nvPr/>
        </p:nvSpPr>
        <p:spPr>
          <a:xfrm>
            <a:off x="609600" y="6448425"/>
            <a:ext cx="1619250" cy="209550"/>
          </a:xfrm>
          <a:prstGeom prst="rect">
            <a:avLst/>
          </a:prstGeom>
          <a:noFill/>
          <a:ln w="0">
            <a:noFill/>
          </a:ln>
        </p:spPr>
        <p:txBody>
          <a:bodyPr lIns="0" tIns="0" rIns="0" bIns="0" anchor="t">
            <a:noAutofit/>
          </a:bodyPr>
          <a:lstStyle/>
          <a:p>
            <a:pPr>
              <a:defRPr sz="1000" b="1">
                <a:solidFill>
                  <a:srgbClr val="B8D9E4"/>
                </a:solidFill>
                <a:latin typeface="Arial"/>
                <a:ea typeface="Arial"/>
                <a:cs typeface="Arial"/>
              </a:defRPr>
            </a:pPr>
            <a:r>
              <a:rPr sz="1000" b="1">
                <a:solidFill>
                  <a:srgbClr val="B8D9E4"/>
                </a:solidFill>
                <a:latin typeface="Arial"/>
                <a:ea typeface="Arial"/>
                <a:cs typeface="Arial"/>
              </a:rPr>
              <a:t>PROCTORAI</a:t>
            </a:r>
          </a:p>
        </p:txBody>
      </p:sp>
      <p:sp>
        <p:nvSpPr>
          <p:cNvPr id="6" name="footer">
            <a:extLst>
              <a:ext uri="{FF2B5EF4-FFF2-40B4-BE49-F238E27FC236}">
                <ns2:creationId id="{6E5FCCD5-0FEC-4044-8873-626354E85F7C}"/>
              </a:ext>
            </a:extLst>
          </p:cNvPr>
          <p:cNvSpPr>
            <a:spLocks noGrp="1"/>
          </p:cNvSpPr>
          <p:nvPr/>
        </p:nvSpPr>
        <p:spPr>
          <a:xfrm>
            <a:off x="2219325" y="6448425"/>
            <a:ext cx="7620000" cy="209550"/>
          </a:xfrm>
          <a:prstGeom prst="rect">
            <a:avLst/>
          </a:prstGeom>
          <a:noFill/>
          <a:ln w="0">
            <a:noFill/>
          </a:ln>
        </p:spPr>
        <p:txBody>
          <a:bodyPr lIns="0" tIns="0" rIns="0" bIns="0" anchor="t">
            <a:noAutofit/>
          </a:bodyPr>
          <a:lstStyle/>
          <a:p>
            <a:pPr>
              <a:defRPr sz="1000" b="0">
                <a:solidFill>
                  <a:srgbClr val="B8D9E4"/>
                </a:solidFill>
                <a:latin typeface="Arial"/>
                <a:ea typeface="Arial"/>
                <a:cs typeface="Arial"/>
              </a:defRPr>
            </a:pPr>
            <a:r>
              <a:rPr sz="1000" b="0">
                <a:solidFill>
                  <a:srgbClr val="B8D9E4"/>
                </a:solidFill>
                <a:latin typeface="Arial"/>
                <a:ea typeface="Arial"/>
                <a:cs typeface="Arial"/>
              </a:rPr>
              <a:t>University panel presentation</a:t>
            </a:r>
          </a:p>
        </p:txBody>
      </p:sp>
      <p:sp>
        <p:nvSpPr>
          <p:cNvPr id="7" name="page">
            <a:extLst>
              <a:ext uri="{FF2B5EF4-FFF2-40B4-BE49-F238E27FC236}">
                <ns2:creationId id="{D7F0D344-8EBB-4C9C-8F01-7DA449CB56E7}"/>
              </a:ext>
            </a:extLst>
          </p:cNvPr>
          <p:cNvSpPr>
            <a:spLocks noGrp="1"/>
          </p:cNvSpPr>
          <p:nvPr/>
        </p:nvSpPr>
        <p:spPr>
          <a:xfrm>
            <a:off x="11058525" y="6438900"/>
            <a:ext cx="523875" cy="228600"/>
          </a:xfrm>
          <a:prstGeom prst="rect">
            <a:avLst/>
          </a:prstGeom>
          <a:noFill/>
          <a:ln w="0">
            <a:noFill/>
          </a:ln>
        </p:spPr>
        <p:txBody>
          <a:bodyPr lIns="0" tIns="0" rIns="0" bIns="0" anchor="t">
            <a:noAutofit/>
          </a:bodyPr>
          <a:lstStyle/>
          <a:p>
            <a:pPr>
              <a:defRPr sz="1100" b="1">
                <a:solidFill>
                  <a:srgbClr val="B8D9E4"/>
                </a:solidFill>
                <a:latin typeface="Arial"/>
                <a:ea typeface="Arial"/>
                <a:cs typeface="Arial"/>
              </a:defRPr>
            </a:pPr>
            <a:r>
              <a:rPr sz="1100" b="1">
                <a:solidFill>
                  <a:srgbClr val="B8D9E4"/>
                </a:solidFill>
                <a:latin typeface="Arial"/>
                <a:ea typeface="Arial"/>
                <a:cs typeface="Arial"/>
              </a:rPr>
              <a:t>06</a:t>
            </a:r>
          </a:p>
        </p:txBody>
      </p:sp>
      <p:sp>
        <p:nvSpPr>
          <p:cNvPr id="8" name="copy">
            <a:extLst>
              <a:ext uri="{FF2B5EF4-FFF2-40B4-BE49-F238E27FC236}">
                <ns2:creationId id="{98C9075C-867E-40CC-AEC2-FDA4C52123BD}"/>
              </a:ext>
            </a:extLst>
          </p:cNvPr>
          <p:cNvSpPr>
            <a:spLocks noGrp="1"/>
          </p:cNvSpPr>
          <p:nvPr/>
        </p:nvSpPr>
        <p:spPr>
          <a:xfrm>
            <a:off x="609600" y="2124075"/>
            <a:ext cx="3552825" cy="323850"/>
          </a:xfrm>
          <a:prstGeom prst="rect">
            <a:avLst/>
          </a:prstGeom>
          <a:noFill/>
          <a:ln w="0">
            <a:noFill/>
          </a:ln>
        </p:spPr>
        <p:txBody>
          <a:bodyPr lIns="0" tIns="0" rIns="0" bIns="0" anchor="t">
            <a:noAutofit/>
          </a:bodyPr>
          <a:lstStyle/>
          <a:p>
            <a:pPr>
              <a:defRPr sz="2200" b="1">
                <a:solidFill>
                  <a:srgbClr val="FFFFFF"/>
                </a:solidFill>
                <a:latin typeface="Arial"/>
                <a:ea typeface="Arial"/>
                <a:cs typeface="Arial"/>
              </a:defRPr>
            </a:pPr>
            <a:r>
              <a:rPr sz="2200" b="1">
                <a:solidFill>
                  <a:srgbClr val="FFFFFF"/>
                </a:solidFill>
                <a:latin typeface="Arial"/>
                <a:ea typeface="Arial"/>
                <a:cs typeface="Arial"/>
              </a:rPr>
              <a:t>Recognition</a:t>
            </a:r>
          </a:p>
        </p:txBody>
      </p:sp>
      <p:sp>
        <p:nvSpPr>
          <p:cNvPr id="9" name="copy">
            <a:extLst>
              <a:ext uri="{FF2B5EF4-FFF2-40B4-BE49-F238E27FC236}">
                <ns2:creationId id="{13190A68-0E45-441D-A8D4-79E0B44614F7}"/>
              </a:ext>
            </a:extLst>
          </p:cNvPr>
          <p:cNvSpPr>
            <a:spLocks noGrp="1"/>
          </p:cNvSpPr>
          <p:nvPr/>
        </p:nvSpPr>
        <p:spPr>
          <a:xfrm>
            <a:off x="609600" y="2533650"/>
            <a:ext cx="3552825" cy="685800"/>
          </a:xfrm>
          <a:prstGeom prst="rect">
            <a:avLst/>
          </a:prstGeom>
          <a:noFill/>
          <a:ln w="0">
            <a:noFill/>
          </a:ln>
        </p:spPr>
        <p:txBody>
          <a:bodyPr lIns="0" tIns="0" rIns="0" bIns="0" anchor="t">
            <a:noAutofit/>
          </a:bodyPr>
          <a:lstStyle/>
          <a:p>
            <a:pPr>
              <a:defRPr sz="1800" b="0">
                <a:solidFill>
                  <a:srgbClr val="B8D9E4"/>
                </a:solidFill>
                <a:latin typeface="Arial"/>
                <a:ea typeface="Arial"/>
                <a:cs typeface="Arial"/>
              </a:defRPr>
            </a:pPr>
            <a:r>
              <a:rPr sz="1800" b="0">
                <a:solidFill>
                  <a:srgbClr val="B8D9E4"/>
                </a:solidFill>
                <a:latin typeface="Arial"/>
                <a:ea typeface="Arial"/>
                <a:cs typeface="Arial"/>
              </a:rPr>
              <a:t>Phone and book detection uses the real object model.</a:t>
            </a:r>
          </a:p>
        </p:txBody>
      </p:sp>
      <p:sp>
        <p:nvSpPr>
          <p:cNvPr id="10" name="copy">
            <a:extLst>
              <a:ext uri="{FF2B5EF4-FFF2-40B4-BE49-F238E27FC236}">
                <ns2:creationId id="{D7780E31-C34B-4FF1-ABC3-B2D73F8FADB8}"/>
              </a:ext>
            </a:extLst>
          </p:cNvPr>
          <p:cNvSpPr>
            <a:spLocks noGrp="1"/>
          </p:cNvSpPr>
          <p:nvPr/>
        </p:nvSpPr>
        <p:spPr>
          <a:xfrm>
            <a:off x="609600" y="3457575"/>
            <a:ext cx="3552825" cy="323850"/>
          </a:xfrm>
          <a:prstGeom prst="rect">
            <a:avLst/>
          </a:prstGeom>
          <a:noFill/>
          <a:ln w="0">
            <a:noFill/>
          </a:ln>
        </p:spPr>
        <p:txBody>
          <a:bodyPr lIns="0" tIns="0" rIns="0" bIns="0" anchor="t">
            <a:noAutofit/>
          </a:bodyPr>
          <a:lstStyle/>
          <a:p>
            <a:pPr>
              <a:defRPr sz="2200" b="1">
                <a:solidFill>
                  <a:srgbClr val="FFFFFF"/>
                </a:solidFill>
                <a:latin typeface="Arial"/>
                <a:ea typeface="Arial"/>
                <a:cs typeface="Arial"/>
              </a:defRPr>
            </a:pPr>
            <a:r>
              <a:rPr sz="2200" b="1">
                <a:solidFill>
                  <a:srgbClr val="FFFFFF"/>
                </a:solidFill>
                <a:latin typeface="Arial"/>
                <a:ea typeface="Arial"/>
                <a:cs typeface="Arial"/>
              </a:rPr>
              <a:t>Responsive preview</a:t>
            </a:r>
          </a:p>
        </p:txBody>
      </p:sp>
      <p:sp>
        <p:nvSpPr>
          <p:cNvPr id="11" name="copy">
            <a:extLst>
              <a:ext uri="{FF2B5EF4-FFF2-40B4-BE49-F238E27FC236}">
                <ns2:creationId id="{42978FE3-2A56-4D49-9876-C5F2481A95F4}"/>
              </a:ext>
            </a:extLst>
          </p:cNvPr>
          <p:cNvSpPr>
            <a:spLocks noGrp="1"/>
          </p:cNvSpPr>
          <p:nvPr/>
        </p:nvSpPr>
        <p:spPr>
          <a:xfrm>
            <a:off x="609600" y="3867150"/>
            <a:ext cx="3552825" cy="685800"/>
          </a:xfrm>
          <a:prstGeom prst="rect">
            <a:avLst/>
          </a:prstGeom>
          <a:noFill/>
          <a:ln w="0">
            <a:noFill/>
          </a:ln>
        </p:spPr>
        <p:txBody>
          <a:bodyPr lIns="0" tIns="0" rIns="0" bIns="0" anchor="t">
            <a:noAutofit/>
          </a:bodyPr>
          <a:lstStyle/>
          <a:p>
            <a:pPr>
              <a:defRPr sz="1800" b="0">
                <a:solidFill>
                  <a:srgbClr val="B8D9E4"/>
                </a:solidFill>
                <a:latin typeface="Arial"/>
                <a:ea typeface="Arial"/>
                <a:cs typeface="Arial"/>
              </a:defRPr>
            </a:pPr>
            <a:r>
              <a:rPr sz="1800" b="0">
                <a:solidFill>
                  <a:srgbClr val="B8D9E4"/>
                </a:solidFill>
                <a:latin typeface="Arial"/>
                <a:ea typeface="Arial"/>
                <a:cs typeface="Arial"/>
              </a:rPr>
              <a:t>Background inference keeps the video feed moving.</a:t>
            </a:r>
          </a:p>
        </p:txBody>
      </p:sp>
      <p:sp>
        <p:nvSpPr>
          <p:cNvPr id="12" name="copy">
            <a:extLst>
              <a:ext uri="{FF2B5EF4-FFF2-40B4-BE49-F238E27FC236}">
                <ns2:creationId id="{681E5B78-5C15-45EC-92EB-E8FE84095CDD}"/>
              </a:ext>
            </a:extLst>
          </p:cNvPr>
          <p:cNvSpPr>
            <a:spLocks noGrp="1"/>
          </p:cNvSpPr>
          <p:nvPr/>
        </p:nvSpPr>
        <p:spPr>
          <a:xfrm>
            <a:off x="609600" y="4791075"/>
            <a:ext cx="3552825" cy="323850"/>
          </a:xfrm>
          <a:prstGeom prst="rect">
            <a:avLst/>
          </a:prstGeom>
          <a:noFill/>
          <a:ln w="0">
            <a:noFill/>
          </a:ln>
        </p:spPr>
        <p:txBody>
          <a:bodyPr lIns="0" tIns="0" rIns="0" bIns="0" anchor="t">
            <a:noAutofit/>
          </a:bodyPr>
          <a:lstStyle/>
          <a:p>
            <a:pPr>
              <a:defRPr sz="2200" b="1">
                <a:solidFill>
                  <a:srgbClr val="FFFFFF"/>
                </a:solidFill>
                <a:latin typeface="Arial"/>
                <a:ea typeface="Arial"/>
                <a:cs typeface="Arial"/>
              </a:defRPr>
            </a:pPr>
            <a:r>
              <a:rPr sz="2200" b="1">
                <a:solidFill>
                  <a:srgbClr val="FFFFFF"/>
                </a:solidFill>
                <a:latin typeface="Arial"/>
                <a:ea typeface="Arial"/>
                <a:cs typeface="Arial"/>
              </a:rPr>
              <a:t>Linked evidence</a:t>
            </a:r>
          </a:p>
        </p:txBody>
      </p:sp>
      <p:sp>
        <p:nvSpPr>
          <p:cNvPr id="13" name="copy">
            <a:extLst>
              <a:ext uri="{FF2B5EF4-FFF2-40B4-BE49-F238E27FC236}">
                <ns2:creationId id="{A205FBD2-7322-4ABC-ACFF-C4E60208869F}"/>
              </a:ext>
            </a:extLst>
          </p:cNvPr>
          <p:cNvSpPr>
            <a:spLocks noGrp="1"/>
          </p:cNvSpPr>
          <p:nvPr/>
        </p:nvSpPr>
        <p:spPr>
          <a:xfrm>
            <a:off x="609600" y="5200650"/>
            <a:ext cx="3552825" cy="685800"/>
          </a:xfrm>
          <a:prstGeom prst="rect">
            <a:avLst/>
          </a:prstGeom>
          <a:noFill/>
          <a:ln w="0">
            <a:noFill/>
          </a:ln>
        </p:spPr>
        <p:txBody>
          <a:bodyPr lIns="0" tIns="0" rIns="0" bIns="0" anchor="t">
            <a:noAutofit/>
          </a:bodyPr>
          <a:lstStyle/>
          <a:p>
            <a:pPr>
              <a:defRPr sz="1800" b="0">
                <a:solidFill>
                  <a:srgbClr val="B8D9E4"/>
                </a:solidFill>
                <a:latin typeface="Arial"/>
                <a:ea typeface="Arial"/>
                <a:cs typeface="Arial"/>
              </a:defRPr>
            </a:pPr>
            <a:r>
              <a:rPr sz="1800" b="0">
                <a:solidFill>
                  <a:srgbClr val="B8D9E4"/>
                </a:solidFill>
                <a:latin typeface="Arial"/>
                <a:ea typeface="Arial"/>
                <a:cs typeface="Arial"/>
              </a:rPr>
              <a:t>Stable detections save a snapshot against the selected seat.</a:t>
            </a:r>
          </a:p>
        </p:txBody>
      </p:sp>
      <p:pic>
        <p:nvPicPr>
          <p:cNvPr id="29" name=""/>
          <p:cNvPicPr>
            <a:picLocks noChangeAspect="1"/>
          </p:cNvPicPr>
          <p:nvPr/>
        </p:nvPicPr>
        <p:blipFill>
          <a:blip r:embed="R11dfa6bf11e64025"/>
          <a:stretch/>
        </p:blipFill>
        <p:spPr>
          <a:xfrm>
            <a:off x="4838700" y="1990725"/>
            <a:ext cx="6400800" cy="3990975"/>
          </a:xfrm>
          <a:prstGeom prst="rect">
            <a:avLst/>
          </a:prstGeom>
        </p:spPr>
      </p:pic>
      <p:sp>
        <p:nvSpPr>
          <p:cNvPr id="15" name="copy">
            <a:extLst>
              <a:ext uri="{FF2B5EF4-FFF2-40B4-BE49-F238E27FC236}">
                <ns2:creationId id="{1111F88A-7669-4956-94A9-029DD7275E66}"/>
              </a:ext>
            </a:extLst>
          </p:cNvPr>
          <p:cNvSpPr>
            <a:spLocks noGrp="1"/>
          </p:cNvSpPr>
          <p:nvPr/>
        </p:nvSpPr>
        <p:spPr>
          <a:xfrm>
            <a:off x="4505325" y="6038850"/>
            <a:ext cx="7086600" cy="219075"/>
          </a:xfrm>
          <a:prstGeom prst="rect">
            <a:avLst/>
          </a:prstGeom>
          <a:noFill/>
          <a:ln w="0">
            <a:noFill/>
          </a:ln>
        </p:spPr>
        <p:txBody>
          <a:bodyPr lIns="0" tIns="0" rIns="0" bIns="0" anchor="t">
            <a:noAutofit/>
          </a:bodyPr>
          <a:lstStyle/>
          <a:p>
            <a:pPr>
              <a:defRPr sz="1200" b="0">
                <a:solidFill>
                  <a:srgbClr val="B8D9E4"/>
                </a:solidFill>
                <a:latin typeface="Arial"/>
                <a:ea typeface="Arial"/>
                <a:cs typeface="Arial"/>
              </a:defRPr>
            </a:pPr>
            <a:r>
              <a:rPr sz="1200" b="0">
                <a:solidFill>
                  <a:srgbClr val="B8D9E4"/>
                </a:solidFill>
                <a:latin typeface="Arial"/>
                <a:ea typeface="Arial"/>
                <a:cs typeface="Arial"/>
              </a:rPr>
              <a:t>Recorded browser test with sample accounts</a:t>
            </a:r>
          </a:p>
        </p:txBody>
      </p:sp>
    </p:spTree>
    <p:extLst>
      <p:ext uri="{BB962C8B-B14F-4D97-AF65-F5344CB8AC3E}">
        <ns4:creationId val="414735957"/>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5F8FA"/>
        </a:solidFill>
      </p:bgPr>
    </p:bg>
    <p:spTree>
      <p:nvGrpSpPr>
        <p:cNvPr id="1" name=""/>
        <p:cNvGrpSpPr/>
        <p:nvPr/>
      </p:nvGrpSpPr>
      <p:grpSpPr>
        <a:xfrm/>
      </p:grpSpPr>
      <p:sp>
        <p:nvSpPr>
          <p:cNvPr id="18" name="section">
            <a:extLst>
              <a:ext uri="{FF2B5EF4-FFF2-40B4-BE49-F238E27FC236}">
                <ns2:creationId id="{B16A62E3-EE5A-449F-B42B-AD0A4105B3D0}"/>
              </a:ext>
            </a:extLst>
          </p:cNvPr>
          <p:cNvSpPr>
            <a:spLocks noGrp="1"/>
          </p:cNvSpPr>
          <p:nvPr/>
        </p:nvSpPr>
        <p:spPr>
          <a:xfrm>
            <a:off x="609600" y="323850"/>
            <a:ext cx="10572750" cy="266700"/>
          </a:xfrm>
          <a:prstGeom prst="rect">
            <a:avLst/>
          </a:prstGeom>
          <a:noFill/>
          <a:ln w="0">
            <a:noFill/>
          </a:ln>
        </p:spPr>
        <p:txBody>
          <a:bodyPr lIns="0" tIns="0" rIns="0" bIns="0" anchor="t">
            <a:noAutofit/>
          </a:bodyPr>
          <a:lstStyle/>
          <a:p>
            <a:pPr>
              <a:defRPr sz="1050" b="1">
                <a:solidFill>
                  <a:srgbClr val="0B9AB9"/>
                </a:solidFill>
                <a:latin typeface="Arial"/>
                <a:ea typeface="Arial"/>
                <a:cs typeface="Arial"/>
              </a:defRPr>
            </a:pPr>
            <a:r>
              <a:rPr sz="1050" b="1">
                <a:solidFill>
                  <a:srgbClr val="0B9AB9"/>
                </a:solidFill>
                <a:latin typeface="Arial"/>
                <a:ea typeface="Arial"/>
                <a:cs typeface="Arial"/>
              </a:rPr>
              <a:t>COMPLETED WORK</a:t>
            </a:r>
          </a:p>
        </p:txBody>
      </p:sp>
      <p:sp>
        <p:nvSpPr>
          <p:cNvPr id="2" name="slide-title">
            <a:extLst>
              <a:ext uri="{FF2B5EF4-FFF2-40B4-BE49-F238E27FC236}">
                <ns2:creationId id="{095D42F7-E530-490F-BE2E-F93FF66AB016}"/>
              </a:ext>
            </a:extLst>
          </p:cNvPr>
          <p:cNvSpPr>
            <a:spLocks noGrp="1"/>
          </p:cNvSpPr>
          <p:nvPr/>
        </p:nvSpPr>
        <p:spPr>
          <a:xfrm>
            <a:off x="609600" y="733425"/>
            <a:ext cx="10953750" cy="695325"/>
          </a:xfrm>
          <a:prstGeom prst="rect">
            <a:avLst/>
          </a:prstGeom>
          <a:noFill/>
          <a:ln w="0">
            <a:noFill/>
          </a:ln>
        </p:spPr>
        <p:txBody>
          <a:bodyPr lIns="0" tIns="0" rIns="0" bIns="0" anchor="t">
            <a:noAutofit/>
          </a:bodyPr>
          <a:lstStyle/>
          <a:p>
            <a:pPr>
              <a:defRPr sz="3400" b="1">
                <a:solidFill>
                  <a:srgbClr val="142A3B"/>
                </a:solidFill>
                <a:latin typeface="Arial"/>
                <a:ea typeface="Arial"/>
                <a:cs typeface="Arial"/>
              </a:defRPr>
            </a:pPr>
            <a:r>
              <a:rPr sz="3400" b="1">
                <a:solidFill>
                  <a:srgbClr val="142A3B"/>
                </a:solidFill>
                <a:latin typeface="Arial"/>
                <a:ea typeface="Arial"/>
                <a:cs typeface="Arial"/>
              </a:rPr>
              <a:t>Calibrated head-pose monitoring</a:t>
            </a:r>
          </a:p>
        </p:txBody>
      </p:sp>
      <p:sp>
        <p:nvSpPr>
          <p:cNvPr id="3" name="">
            <a:extLst>
              <a:ext uri="{FF2B5EF4-FFF2-40B4-BE49-F238E27FC236}">
                <ns2:creationId id="{7C3F67B8-99E9-4153-97E5-8FD972FA7BBA}"/>
              </a:ext>
            </a:extLst>
          </p:cNvPr>
          <p:cNvSpPr>
            <a:spLocks noGrp="1"/>
          </p:cNvSpPr>
          <p:nvPr/>
        </p:nvSpPr>
        <p:spPr>
          <a:xfrm>
            <a:off x="609600" y="6305550"/>
            <a:ext cx="10972800" cy="9525"/>
          </a:xfrm>
          <a:prstGeom prst="rect">
            <a:avLst/>
          </a:prstGeom>
          <a:solidFill>
            <a:srgbClr val="D5E1E7"/>
          </a:solidFill>
          <a:ln w="0">
            <a:noFill/>
          </a:ln>
        </p:spPr>
      </p:sp>
      <p:sp>
        <p:nvSpPr>
          <p:cNvPr id="4" name="brand-footer">
            <a:extLst>
              <a:ext uri="{FF2B5EF4-FFF2-40B4-BE49-F238E27FC236}">
                <ns2:creationId id="{310297A0-F515-41B9-8029-2F1122E2BB7F}"/>
              </a:ext>
            </a:extLst>
          </p:cNvPr>
          <p:cNvSpPr>
            <a:spLocks noGrp="1"/>
          </p:cNvSpPr>
          <p:nvPr/>
        </p:nvSpPr>
        <p:spPr>
          <a:xfrm>
            <a:off x="609600" y="6448425"/>
            <a:ext cx="1619250" cy="209550"/>
          </a:xfrm>
          <a:prstGeom prst="rect">
            <a:avLst/>
          </a:prstGeom>
          <a:noFill/>
          <a:ln w="0">
            <a:noFill/>
          </a:ln>
        </p:spPr>
        <p:txBody>
          <a:bodyPr lIns="0" tIns="0" rIns="0" bIns="0" anchor="t">
            <a:noAutofit/>
          </a:bodyPr>
          <a:lstStyle/>
          <a:p>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a:ext uri="{FF2B5EF4-FFF2-40B4-BE49-F238E27FC236}">
                <ns2:creationId id="{F0A4ED2A-6EE0-4E90-B766-9FC847F02530}"/>
              </a:ext>
            </a:extLst>
          </p:cNvPr>
          <p:cNvSpPr>
            <a:spLocks noGrp="1"/>
          </p:cNvSpPr>
          <p:nvPr/>
        </p:nvSpPr>
        <p:spPr>
          <a:xfrm>
            <a:off x="2219325" y="6448425"/>
            <a:ext cx="7620000" cy="209550"/>
          </a:xfrm>
          <a:prstGeom prst="rect">
            <a:avLst/>
          </a:prstGeom>
          <a:noFill/>
          <a:ln w="0">
            <a:noFill/>
          </a:ln>
        </p:spPr>
        <p:txBody>
          <a:bodyPr lIns="0" tIns="0" rIns="0" bIns="0" anchor="t">
            <a:noAutofit/>
          </a:bodyPr>
          <a:lstStyle/>
          <a:p>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a:ext uri="{FF2B5EF4-FFF2-40B4-BE49-F238E27FC236}">
                <ns2:creationId id="{526D699B-578A-400D-9ECF-F16FB8D3BC80}"/>
              </a:ext>
            </a:extLst>
          </p:cNvPr>
          <p:cNvSpPr>
            <a:spLocks noGrp="1"/>
          </p:cNvSpPr>
          <p:nvPr/>
        </p:nvSpPr>
        <p:spPr>
          <a:xfrm>
            <a:off x="11058525" y="6438900"/>
            <a:ext cx="523875" cy="228600"/>
          </a:xfrm>
          <a:prstGeom prst="rect">
            <a:avLst/>
          </a:prstGeom>
          <a:noFill/>
          <a:ln w="0">
            <a:noFill/>
          </a:ln>
        </p:spPr>
        <p:txBody>
          <a:bodyPr lIns="0" tIns="0" rIns="0" bIns="0" anchor="t">
            <a:noAutofit/>
          </a:bodyPr>
          <a:lstStyle/>
          <a:p>
            <a:pPr>
              <a:defRPr sz="1100" b="1">
                <a:solidFill>
                  <a:srgbClr val="566B7A"/>
                </a:solidFill>
                <a:latin typeface="Arial"/>
                <a:ea typeface="Arial"/>
                <a:cs typeface="Arial"/>
              </a:defRPr>
            </a:pPr>
            <a:r>
              <a:rPr sz="1100" b="1">
                <a:solidFill>
                  <a:srgbClr val="566B7A"/>
                </a:solidFill>
                <a:latin typeface="Arial"/>
                <a:ea typeface="Arial"/>
                <a:cs typeface="Arial"/>
              </a:rPr>
              <a:t>07</a:t>
            </a:r>
          </a:p>
        </p:txBody>
      </p:sp>
      <p:sp>
        <p:nvSpPr>
          <p:cNvPr id="7" name="copy">
            <a:extLst>
              <a:ext uri="{FF2B5EF4-FFF2-40B4-BE49-F238E27FC236}">
                <ns2:creationId id="{FB8AAE85-3D97-4ACF-9DFB-19424622DAA3}"/>
              </a:ext>
            </a:extLst>
          </p:cNvPr>
          <p:cNvSpPr>
            <a:spLocks noGrp="1"/>
          </p:cNvSpPr>
          <p:nvPr/>
        </p:nvSpPr>
        <p:spPr>
          <a:xfrm>
            <a:off x="609600" y="1933575"/>
            <a:ext cx="6638925" cy="952500"/>
          </a:xfrm>
          <a:prstGeom prst="rect">
            <a:avLst/>
          </a:prstGeom>
          <a:noFill/>
          <a:ln w="0">
            <a:noFill/>
          </a:ln>
        </p:spPr>
        <p:txBody>
          <a:bodyPr lIns="0" tIns="0" rIns="0" bIns="0" anchor="t">
            <a:noAutofit/>
          </a:bodyPr>
          <a:lstStyle/>
          <a:p>
            <a:pPr>
              <a:defRPr sz="2800" b="1">
                <a:solidFill>
                  <a:srgbClr val="142A3B"/>
                </a:solidFill>
                <a:latin typeface="Arial"/>
                <a:ea typeface="Arial"/>
                <a:cs typeface="Arial"/>
              </a:defRPr>
            </a:pPr>
            <a:r>
              <a:rPr sz="2800" b="1">
                <a:solidFill>
                  <a:srgbClr val="142A3B"/>
                </a:solidFill>
                <a:latin typeface="Arial"/>
                <a:ea typeface="Arial"/>
                <a:cs typeface="Arial"/>
              </a:rPr>
              <a:t>Angles relative to each student’s neutral posture</a:t>
            </a:r>
          </a:p>
        </p:txBody>
      </p:sp>
      <p:sp>
        <p:nvSpPr>
          <p:cNvPr id="8" name="copy">
            <a:extLst>
              <a:ext uri="{FF2B5EF4-FFF2-40B4-BE49-F238E27FC236}">
                <ns2:creationId id="{F49398D6-E05D-45E7-9AB2-18999CBEF7C6}"/>
              </a:ext>
            </a:extLst>
          </p:cNvPr>
          <p:cNvSpPr>
            <a:spLocks noGrp="1"/>
          </p:cNvSpPr>
          <p:nvPr/>
        </p:nvSpPr>
        <p:spPr>
          <a:xfrm>
            <a:off x="609600" y="3171825"/>
            <a:ext cx="6457950" cy="323850"/>
          </a:xfrm>
          <a:prstGeom prst="rect">
            <a:avLst/>
          </a:prstGeom>
          <a:noFill/>
          <a:ln w="0">
            <a:noFill/>
          </a:ln>
        </p:spPr>
        <p:txBody>
          <a:bodyPr lIns="0" tIns="0" rIns="0" bIns="0" anchor="t">
            <a:noAutofit/>
          </a:bodyPr>
          <a:lstStyle/>
          <a:p>
            <a:pPr>
              <a:defRPr sz="2200" b="1">
                <a:solidFill>
                  <a:srgbClr val="142A3B"/>
                </a:solidFill>
                <a:latin typeface="Arial"/>
                <a:ea typeface="Arial"/>
                <a:cs typeface="Arial"/>
              </a:defRPr>
            </a:pPr>
            <a:r>
              <a:rPr sz="2200" b="1">
                <a:solidFill>
                  <a:srgbClr val="142A3B"/>
                </a:solidFill>
                <a:latin typeface="Arial"/>
                <a:ea typeface="Arial"/>
                <a:cs typeface="Arial"/>
              </a:rPr>
              <a:t>Neutral calibration</a:t>
            </a:r>
          </a:p>
        </p:txBody>
      </p:sp>
      <p:sp>
        <p:nvSpPr>
          <p:cNvPr id="9" name="copy">
            <a:extLst>
              <a:ext uri="{FF2B5EF4-FFF2-40B4-BE49-F238E27FC236}">
                <ns2:creationId id="{05E54F69-DF65-4DBA-8FF7-AD4A369971AF}"/>
              </a:ext>
            </a:extLst>
          </p:cNvPr>
          <p:cNvSpPr>
            <a:spLocks noGrp="1"/>
          </p:cNvSpPr>
          <p:nvPr/>
        </p:nvSpPr>
        <p:spPr>
          <a:xfrm>
            <a:off x="609600" y="3581400"/>
            <a:ext cx="6457950" cy="685800"/>
          </a:xfrm>
          <a:prstGeom prst="rect">
            <a:avLst/>
          </a:prstGeom>
          <a:noFill/>
          <a:ln w="0">
            <a:noFill/>
          </a:ln>
        </p:spPr>
        <p:txBody>
          <a:bodyPr lIns="0" tIns="0" rIns="0" bIns="0" anchor="t">
            <a:noAutofit/>
          </a:bodyPr>
          <a:lstStyle/>
          <a:p>
            <a:pPr>
              <a:defRPr sz="1800" b="0">
                <a:solidFill>
                  <a:srgbClr val="566B7A"/>
                </a:solidFill>
                <a:latin typeface="Arial"/>
                <a:ea typeface="Arial"/>
                <a:cs typeface="Arial"/>
              </a:defRPr>
            </a:pPr>
            <a:r>
              <a:rPr sz="1800" b="0">
                <a:solidFill>
                  <a:srgbClr val="566B7A"/>
                </a:solidFill>
                <a:latin typeface="Arial"/>
                <a:ea typeface="Arial"/>
                <a:cs typeface="Arial"/>
              </a:rPr>
              <a:t>A short, stable forward pose sets the reference.</a:t>
            </a:r>
          </a:p>
        </p:txBody>
      </p:sp>
      <p:sp>
        <p:nvSpPr>
          <p:cNvPr id="10" name="copy">
            <a:extLst>
              <a:ext uri="{FF2B5EF4-FFF2-40B4-BE49-F238E27FC236}">
                <ns2:creationId id="{C3B294AE-9E63-4831-8C1F-74291BCAEA98}"/>
              </a:ext>
            </a:extLst>
          </p:cNvPr>
          <p:cNvSpPr>
            <a:spLocks noGrp="1"/>
          </p:cNvSpPr>
          <p:nvPr/>
        </p:nvSpPr>
        <p:spPr>
          <a:xfrm>
            <a:off x="609600" y="4419600"/>
            <a:ext cx="1828800" cy="647700"/>
          </a:xfrm>
          <a:prstGeom prst="rect">
            <a:avLst/>
          </a:prstGeom>
          <a:noFill/>
          <a:ln w="0">
            <a:noFill/>
          </a:ln>
        </p:spPr>
        <p:txBody>
          <a:bodyPr lIns="0" tIns="0" rIns="0" bIns="0" anchor="t">
            <a:noAutofit/>
          </a:bodyPr>
          <a:lstStyle/>
          <a:p>
            <a:pPr>
              <a:defRPr sz="3500" b="1">
                <a:solidFill>
                  <a:srgbClr val="0B9AB9"/>
                </a:solidFill>
                <a:latin typeface="Arial"/>
                <a:ea typeface="Arial"/>
                <a:cs typeface="Arial"/>
              </a:defRPr>
            </a:pPr>
            <a:r>
              <a:rPr sz="3500" b="1">
                <a:solidFill>
                  <a:srgbClr val="0B9AB9"/>
                </a:solidFill>
                <a:latin typeface="Arial"/>
                <a:ea typeface="Arial"/>
                <a:cs typeface="Arial"/>
              </a:rPr>
              <a:t>±30°</a:t>
            </a:r>
          </a:p>
        </p:txBody>
      </p:sp>
      <p:sp>
        <p:nvSpPr>
          <p:cNvPr id="11" name="copy">
            <a:extLst>
              <a:ext uri="{FF2B5EF4-FFF2-40B4-BE49-F238E27FC236}">
                <ns2:creationId id="{8D8554B7-3D71-4A09-A558-05F65E740E4B}"/>
              </a:ext>
            </a:extLst>
          </p:cNvPr>
          <p:cNvSpPr>
            <a:spLocks noGrp="1"/>
          </p:cNvSpPr>
          <p:nvPr/>
        </p:nvSpPr>
        <p:spPr>
          <a:xfrm>
            <a:off x="609600" y="5105400"/>
            <a:ext cx="2190750" cy="381000"/>
          </a:xfrm>
          <a:prstGeom prst="rect">
            <a:avLst/>
          </a:prstGeom>
          <a:noFill/>
          <a:ln w="0">
            <a:noFill/>
          </a:ln>
        </p:spPr>
        <p:txBody>
          <a:bodyPr lIns="0" tIns="0" rIns="0" bIns="0" anchor="t">
            <a:noAutofit/>
          </a:bodyPr>
          <a:lstStyle/>
          <a:p>
            <a:pPr>
              <a:defRPr sz="1800" b="0">
                <a:solidFill>
                  <a:srgbClr val="566B7A"/>
                </a:solidFill>
                <a:latin typeface="Arial"/>
                <a:ea typeface="Arial"/>
                <a:cs typeface="Arial"/>
              </a:defRPr>
            </a:pPr>
            <a:r>
              <a:rPr sz="1800" b="0">
                <a:solidFill>
                  <a:srgbClr val="566B7A"/>
                </a:solidFill>
                <a:latin typeface="Arial"/>
                <a:ea typeface="Arial"/>
                <a:cs typeface="Arial"/>
              </a:rPr>
              <a:t>Sideways yaw</a:t>
            </a:r>
          </a:p>
        </p:txBody>
      </p:sp>
      <p:sp>
        <p:nvSpPr>
          <p:cNvPr id="12" name="copy">
            <a:extLst>
              <a:ext uri="{FF2B5EF4-FFF2-40B4-BE49-F238E27FC236}">
                <ns2:creationId id="{AC0B8052-7A1B-4BF8-838F-2A9CBA36CA84}"/>
              </a:ext>
            </a:extLst>
          </p:cNvPr>
          <p:cNvSpPr>
            <a:spLocks noGrp="1"/>
          </p:cNvSpPr>
          <p:nvPr/>
        </p:nvSpPr>
        <p:spPr>
          <a:xfrm>
            <a:off x="3076575" y="4419600"/>
            <a:ext cx="1828800" cy="647700"/>
          </a:xfrm>
          <a:prstGeom prst="rect">
            <a:avLst/>
          </a:prstGeom>
          <a:noFill/>
          <a:ln w="0">
            <a:noFill/>
          </a:ln>
        </p:spPr>
        <p:txBody>
          <a:bodyPr lIns="0" tIns="0" rIns="0" bIns="0" anchor="t">
            <a:noAutofit/>
          </a:bodyPr>
          <a:lstStyle/>
          <a:p>
            <a:pPr>
              <a:defRPr sz="3500" b="1">
                <a:solidFill>
                  <a:srgbClr val="0B9AB9"/>
                </a:solidFill>
                <a:latin typeface="Arial"/>
                <a:ea typeface="Arial"/>
                <a:cs typeface="Arial"/>
              </a:defRPr>
            </a:pPr>
            <a:r>
              <a:rPr sz="3500" b="1">
                <a:solidFill>
                  <a:srgbClr val="0B9AB9"/>
                </a:solidFill>
                <a:latin typeface="Arial"/>
                <a:ea typeface="Arial"/>
                <a:cs typeface="Arial"/>
              </a:rPr>
              <a:t>−20°</a:t>
            </a:r>
          </a:p>
        </p:txBody>
      </p:sp>
      <p:sp>
        <p:nvSpPr>
          <p:cNvPr id="13" name="copy">
            <a:extLst>
              <a:ext uri="{FF2B5EF4-FFF2-40B4-BE49-F238E27FC236}">
                <ns2:creationId id="{FB32582F-675E-4D5E-BB17-1BC74FAD0E09}"/>
              </a:ext>
            </a:extLst>
          </p:cNvPr>
          <p:cNvSpPr>
            <a:spLocks noGrp="1"/>
          </p:cNvSpPr>
          <p:nvPr/>
        </p:nvSpPr>
        <p:spPr>
          <a:xfrm>
            <a:off x="3076575" y="5105400"/>
            <a:ext cx="2286000" cy="381000"/>
          </a:xfrm>
          <a:prstGeom prst="rect">
            <a:avLst/>
          </a:prstGeom>
          <a:noFill/>
          <a:ln w="0">
            <a:noFill/>
          </a:ln>
        </p:spPr>
        <p:txBody>
          <a:bodyPr lIns="0" tIns="0" rIns="0" bIns="0" anchor="t">
            <a:noAutofit/>
          </a:bodyPr>
          <a:lstStyle/>
          <a:p>
            <a:pPr>
              <a:defRPr sz="1800" b="0">
                <a:solidFill>
                  <a:srgbClr val="566B7A"/>
                </a:solidFill>
                <a:latin typeface="Arial"/>
                <a:ea typeface="Arial"/>
                <a:cs typeface="Arial"/>
              </a:defRPr>
            </a:pPr>
            <a:r>
              <a:rPr sz="1800" b="0">
                <a:solidFill>
                  <a:srgbClr val="566B7A"/>
                </a:solidFill>
                <a:latin typeface="Arial"/>
                <a:ea typeface="Arial"/>
                <a:cs typeface="Arial"/>
              </a:rPr>
              <a:t>Downward pitch</a:t>
            </a:r>
          </a:p>
        </p:txBody>
      </p:sp>
      <p:sp>
        <p:nvSpPr>
          <p:cNvPr id="14" name="copy">
            <a:extLst>
              <a:ext uri="{FF2B5EF4-FFF2-40B4-BE49-F238E27FC236}">
                <ns2:creationId id="{DEF39552-B9F4-4273-AD67-315D06B55447}"/>
              </a:ext>
            </a:extLst>
          </p:cNvPr>
          <p:cNvSpPr>
            <a:spLocks noGrp="1"/>
          </p:cNvSpPr>
          <p:nvPr/>
        </p:nvSpPr>
        <p:spPr>
          <a:xfrm>
            <a:off x="5657850" y="4419600"/>
            <a:ext cx="2200275" cy="647700"/>
          </a:xfrm>
          <a:prstGeom prst="rect">
            <a:avLst/>
          </a:prstGeom>
          <a:noFill/>
          <a:ln w="0">
            <a:noFill/>
          </a:ln>
        </p:spPr>
        <p:txBody>
          <a:bodyPr lIns="0" tIns="0" rIns="0" bIns="0" anchor="t">
            <a:noAutofit/>
          </a:bodyPr>
          <a:lstStyle/>
          <a:p>
            <a:pPr>
              <a:defRPr sz="3000" b="1">
                <a:solidFill>
                  <a:srgbClr val="0B9AB9"/>
                </a:solidFill>
                <a:latin typeface="Arial"/>
                <a:ea typeface="Arial"/>
                <a:cs typeface="Arial"/>
              </a:defRPr>
            </a:pPr>
            <a:r>
              <a:rPr sz="3000" b="1">
                <a:solidFill>
                  <a:srgbClr val="0B9AB9"/>
                </a:solidFill>
                <a:latin typeface="Arial"/>
                <a:ea typeface="Arial"/>
                <a:cs typeface="Arial"/>
              </a:rPr>
              <a:t>2 seconds</a:t>
            </a:r>
          </a:p>
        </p:txBody>
      </p:sp>
      <p:sp>
        <p:nvSpPr>
          <p:cNvPr id="15" name="copy">
            <a:extLst>
              <a:ext uri="{FF2B5EF4-FFF2-40B4-BE49-F238E27FC236}">
                <ns2:creationId id="{F4279D64-E357-4868-B4A9-438BFD754B06}"/>
              </a:ext>
            </a:extLst>
          </p:cNvPr>
          <p:cNvSpPr>
            <a:spLocks noGrp="1"/>
          </p:cNvSpPr>
          <p:nvPr/>
        </p:nvSpPr>
        <p:spPr>
          <a:xfrm>
            <a:off x="5657850" y="5105400"/>
            <a:ext cx="2362200" cy="381000"/>
          </a:xfrm>
          <a:prstGeom prst="rect">
            <a:avLst/>
          </a:prstGeom>
          <a:noFill/>
          <a:ln w="0">
            <a:noFill/>
          </a:ln>
        </p:spPr>
        <p:txBody>
          <a:bodyPr lIns="0" tIns="0" rIns="0" bIns="0" anchor="t">
            <a:noAutofit/>
          </a:bodyPr>
          <a:lstStyle/>
          <a:p>
            <a:pPr>
              <a:defRPr sz="1800" b="0">
                <a:solidFill>
                  <a:srgbClr val="566B7A"/>
                </a:solidFill>
                <a:latin typeface="Arial"/>
                <a:ea typeface="Arial"/>
                <a:cs typeface="Arial"/>
              </a:defRPr>
            </a:pPr>
            <a:r>
              <a:rPr sz="1800" b="0">
                <a:solidFill>
                  <a:srgbClr val="566B7A"/>
                </a:solidFill>
                <a:latin typeface="Arial"/>
                <a:ea typeface="Arial"/>
                <a:cs typeface="Arial"/>
              </a:rPr>
              <a:t>Sustained movement</a:t>
            </a:r>
          </a:p>
        </p:txBody>
      </p:sp>
      <p:sp>
        <p:nvSpPr>
          <p:cNvPr id="16" name="copy">
            <a:extLst>
              <a:ext uri="{FF2B5EF4-FFF2-40B4-BE49-F238E27FC236}">
                <ns2:creationId id="{7932F61B-D3AC-41FC-A24B-DF0F677AAD33}"/>
              </a:ext>
            </a:extLst>
          </p:cNvPr>
          <p:cNvSpPr>
            <a:spLocks noGrp="1"/>
          </p:cNvSpPr>
          <p:nvPr/>
        </p:nvSpPr>
        <p:spPr>
          <a:xfrm>
            <a:off x="609600" y="5743575"/>
            <a:ext cx="6886575" cy="409575"/>
          </a:xfrm>
          <a:prstGeom prst="rect">
            <a:avLst/>
          </a:prstGeom>
          <a:noFill/>
          <a:ln w="0">
            <a:noFill/>
          </a:ln>
        </p:spPr>
        <p:txBody>
          <a:bodyPr lIns="0" tIns="0" rIns="0" bIns="0" anchor="t">
            <a:noAutofit/>
          </a:bodyPr>
          <a:lstStyle/>
          <a:p>
            <a:pPr>
              <a:defRPr sz="1800" b="1">
                <a:solidFill>
                  <a:srgbClr val="142A3B"/>
                </a:solidFill>
                <a:latin typeface="Arial"/>
                <a:ea typeface="Arial"/>
                <a:cs typeface="Arial"/>
              </a:defRPr>
            </a:pPr>
            <a:r>
              <a:rPr sz="1800" b="1">
                <a:solidFill>
                  <a:srgbClr val="142A3B"/>
                </a:solidFill>
                <a:latin typeface="Arial"/>
                <a:ea typeface="Arial"/>
                <a:cs typeface="Arial"/>
              </a:rPr>
              <a:t>Head movement raises a warning and provides review context.</a:t>
            </a:r>
          </a:p>
        </p:txBody>
      </p:sp>
      <p:pic>
        <p:nvPicPr>
          <p:cNvPr id="34" name=""/>
          <p:cNvPicPr>
            <a:picLocks noChangeAspect="1"/>
          </p:cNvPicPr>
          <p:nvPr/>
        </p:nvPicPr>
        <p:blipFill>
          <a:blip r:embed="R1175c3f3c4d24bff"/>
          <a:stretch/>
        </p:blipFill>
        <p:spPr>
          <a:xfrm>
            <a:off x="8143875" y="2590800"/>
            <a:ext cx="3438525" cy="2200275"/>
          </a:xfrm>
          <a:prstGeom prst="rect">
            <a:avLst/>
          </a:prstGeom>
        </p:spPr>
      </p:pic>
    </p:spTree>
    <p:extLst>
      <p:ext uri="{BB962C8B-B14F-4D97-AF65-F5344CB8AC3E}">
        <ns4:creationId val="1885508846"/>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F34B4EE8-1886-4B44-B8A6-8C9EF5DC80D7}"/>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ROLE HIERARCHY</a:t>
            </a:r>
          </a:p>
        </p:txBody>
      </p:sp>
      <p:sp>
        <p:nvSpPr>
          <p:cNvPr id="2" name="slide-title">
            <a:extLst xmlns:a="http://schemas.openxmlformats.org/drawingml/2006/main">
              <a:ext uri="{FF2B5EF4-FFF2-40B4-BE49-F238E27FC236}">
                <a16:creationId xmlns:a16="http://schemas.microsoft.com/office/drawing/2014/main" id="{5B094160-EE42-4174-88F8-138E7189A27F}"/>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Five portals with defined responsibilities</a:t>
            </a:r>
          </a:p>
        </p:txBody>
      </p:sp>
      <p:sp>
        <p:nvSpPr>
          <p:cNvPr id="3" name="">
            <a:extLst xmlns:a="http://schemas.openxmlformats.org/drawingml/2006/main">
              <a:ext uri="{FF2B5EF4-FFF2-40B4-BE49-F238E27FC236}">
                <a16:creationId xmlns:a16="http://schemas.microsoft.com/office/drawing/2014/main" id="{26A3CE88-9820-4C8A-83F5-32306E8B92E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5DBE921F-69D8-4F54-BEAD-AF70930D89A6}"/>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01EEA4BB-4591-4FC7-91F0-5EE39E5A4E59}"/>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FFA11896-60EB-4965-91A5-E07BF0C45B4A}"/>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08</a:t>
            </a:r>
          </a:p>
        </p:txBody>
      </p:sp>
      <p:sp>
        <p:nvSpPr>
          <p:cNvPr id="7" name="copy">
            <a:extLst xmlns:a="http://schemas.openxmlformats.org/drawingml/2006/main">
              <a:ext uri="{FF2B5EF4-FFF2-40B4-BE49-F238E27FC236}">
                <a16:creationId xmlns:a16="http://schemas.microsoft.com/office/drawing/2014/main" id="{39C88E5C-7602-4890-AA20-2760CC5FD43A}"/>
              </a:ext>
            </a:extLst>
          </p:cNvPr>
          <p:cNvSpPr>
            <a:spLocks xmlns:a="http://schemas.openxmlformats.org/drawingml/2006/main" noGrp="1"/>
          </p:cNvSpPr>
          <p:nvPr/>
        </p:nvSpPr>
        <p:spPr>
          <a:xfrm xmlns:a="http://schemas.openxmlformats.org/drawingml/2006/main">
            <a:off x="609600" y="1990725"/>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142A3B"/>
                </a:solidFill>
                <a:latin typeface="Arial"/>
                <a:ea typeface="Arial"/>
                <a:cs typeface="Arial"/>
              </a:defRPr>
            </a:pPr>
            <a:r>
              <a:rPr sz="2300" b="1">
                <a:solidFill>
                  <a:srgbClr val="142A3B"/>
                </a:solidFill>
                <a:latin typeface="Arial"/>
                <a:ea typeface="Arial"/>
                <a:cs typeface="Arial"/>
              </a:rPr>
              <a:t>Admin</a:t>
            </a:r>
          </a:p>
        </p:txBody>
      </p:sp>
      <p:sp>
        <p:nvSpPr>
          <p:cNvPr id="8" name="copy">
            <a:extLst xmlns:a="http://schemas.openxmlformats.org/drawingml/2006/main">
              <a:ext uri="{FF2B5EF4-FFF2-40B4-BE49-F238E27FC236}">
                <a16:creationId xmlns:a16="http://schemas.microsoft.com/office/drawing/2014/main" id="{2F46A356-6EFE-489D-B638-79E46D2C1863}"/>
              </a:ext>
            </a:extLst>
          </p:cNvPr>
          <p:cNvSpPr>
            <a:spLocks xmlns:a="http://schemas.openxmlformats.org/drawingml/2006/main" noGrp="1"/>
          </p:cNvSpPr>
          <p:nvPr/>
        </p:nvSpPr>
        <p:spPr>
          <a:xfrm xmlns:a="http://schemas.openxmlformats.org/drawingml/2006/main">
            <a:off x="609600" y="234315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0">
                <a:solidFill>
                  <a:srgbClr val="566B7A"/>
                </a:solidFill>
                <a:latin typeface="Arial"/>
                <a:ea typeface="Arial"/>
                <a:cs typeface="Arial"/>
              </a:defRPr>
            </a:pPr>
            <a:r>
              <a:rPr sz="1700" b="0">
                <a:solidFill>
                  <a:srgbClr val="566B7A"/>
                </a:solidFill>
                <a:latin typeface="Arial"/>
                <a:ea typeface="Arial"/>
                <a:cs typeface="Arial"/>
              </a:rPr>
              <a:t>Users, rooms, settings and all CSV imports</a:t>
            </a:r>
          </a:p>
        </p:txBody>
      </p:sp>
      <p:sp>
        <p:nvSpPr>
          <p:cNvPr id="9" name="copy">
            <a:extLst xmlns:a="http://schemas.openxmlformats.org/drawingml/2006/main">
              <a:ext uri="{FF2B5EF4-FFF2-40B4-BE49-F238E27FC236}">
                <a16:creationId xmlns:a16="http://schemas.microsoft.com/office/drawing/2014/main" id="{B1B53F4F-96DB-4A6C-89E6-F24A341E2636}"/>
              </a:ext>
            </a:extLst>
          </p:cNvPr>
          <p:cNvSpPr>
            <a:spLocks xmlns:a="http://schemas.openxmlformats.org/drawingml/2006/main" noGrp="1"/>
          </p:cNvSpPr>
          <p:nvPr/>
        </p:nvSpPr>
        <p:spPr>
          <a:xfrm xmlns:a="http://schemas.openxmlformats.org/drawingml/2006/main">
            <a:off x="609600" y="2733675"/>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142A3B"/>
                </a:solidFill>
                <a:latin typeface="Arial"/>
                <a:ea typeface="Arial"/>
                <a:cs typeface="Arial"/>
              </a:defRPr>
            </a:pPr>
            <a:r>
              <a:rPr sz="2300" b="1">
                <a:solidFill>
                  <a:srgbClr val="142A3B"/>
                </a:solidFill>
                <a:latin typeface="Arial"/>
                <a:ea typeface="Arial"/>
                <a:cs typeface="Arial"/>
              </a:rPr>
              <a:t>Exam Controller</a:t>
            </a:r>
          </a:p>
        </p:txBody>
      </p:sp>
      <p:sp>
        <p:nvSpPr>
          <p:cNvPr id="10" name="copy">
            <a:extLst xmlns:a="http://schemas.openxmlformats.org/drawingml/2006/main">
              <a:ext uri="{FF2B5EF4-FFF2-40B4-BE49-F238E27FC236}">
                <a16:creationId xmlns:a16="http://schemas.microsoft.com/office/drawing/2014/main" id="{F46537D9-A5B7-4403-B87B-119197C2DF38}"/>
              </a:ext>
            </a:extLst>
          </p:cNvPr>
          <p:cNvSpPr>
            <a:spLocks xmlns:a="http://schemas.openxmlformats.org/drawingml/2006/main" noGrp="1"/>
          </p:cNvSpPr>
          <p:nvPr/>
        </p:nvSpPr>
        <p:spPr>
          <a:xfrm xmlns:a="http://schemas.openxmlformats.org/drawingml/2006/main">
            <a:off x="609600" y="30861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0">
                <a:solidFill>
                  <a:srgbClr val="566B7A"/>
                </a:solidFill>
                <a:latin typeface="Arial"/>
                <a:ea typeface="Arial"/>
                <a:cs typeface="Arial"/>
              </a:defRPr>
            </a:pPr>
            <a:r>
              <a:rPr sz="1700" b="0">
                <a:solidFill>
                  <a:srgbClr val="566B7A"/>
                </a:solidFill>
                <a:latin typeface="Arial"/>
                <a:ea typeface="Arial"/>
                <a:cs typeface="Arial"/>
              </a:rPr>
              <a:t>Exam schedule and invigilator assignments</a:t>
            </a:r>
          </a:p>
        </p:txBody>
      </p:sp>
      <p:sp>
        <p:nvSpPr>
          <p:cNvPr id="11" name="copy">
            <a:extLst xmlns:a="http://schemas.openxmlformats.org/drawingml/2006/main">
              <a:ext uri="{FF2B5EF4-FFF2-40B4-BE49-F238E27FC236}">
                <a16:creationId xmlns:a16="http://schemas.microsoft.com/office/drawing/2014/main" id="{60976ACF-7C97-4C06-A562-EE9D857309E7}"/>
              </a:ext>
            </a:extLst>
          </p:cNvPr>
          <p:cNvSpPr>
            <a:spLocks xmlns:a="http://schemas.openxmlformats.org/drawingml/2006/main" noGrp="1"/>
          </p:cNvSpPr>
          <p:nvPr/>
        </p:nvSpPr>
        <p:spPr>
          <a:xfrm xmlns:a="http://schemas.openxmlformats.org/drawingml/2006/main">
            <a:off x="609600" y="3476625"/>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142A3B"/>
                </a:solidFill>
                <a:latin typeface="Arial"/>
                <a:ea typeface="Arial"/>
                <a:cs typeface="Arial"/>
              </a:defRPr>
            </a:pPr>
            <a:r>
              <a:rPr sz="2300" b="1">
                <a:solidFill>
                  <a:srgbClr val="142A3B"/>
                </a:solidFill>
                <a:latin typeface="Arial"/>
                <a:ea typeface="Arial"/>
                <a:cs typeface="Arial"/>
              </a:rPr>
              <a:t>Teacher</a:t>
            </a:r>
          </a:p>
        </p:txBody>
      </p:sp>
      <p:sp>
        <p:nvSpPr>
          <p:cNvPr id="12" name="copy">
            <a:extLst xmlns:a="http://schemas.openxmlformats.org/drawingml/2006/main">
              <a:ext uri="{FF2B5EF4-FFF2-40B4-BE49-F238E27FC236}">
                <a16:creationId xmlns:a16="http://schemas.microsoft.com/office/drawing/2014/main" id="{77E8BE00-5663-4303-9B3B-E4AEEF3B8E80}"/>
              </a:ext>
            </a:extLst>
          </p:cNvPr>
          <p:cNvSpPr>
            <a:spLocks xmlns:a="http://schemas.openxmlformats.org/drawingml/2006/main" noGrp="1"/>
          </p:cNvSpPr>
          <p:nvPr/>
        </p:nvSpPr>
        <p:spPr>
          <a:xfrm xmlns:a="http://schemas.openxmlformats.org/drawingml/2006/main">
            <a:off x="609600" y="382905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0">
                <a:solidFill>
                  <a:srgbClr val="566B7A"/>
                </a:solidFill>
                <a:latin typeface="Arial"/>
                <a:ea typeface="Arial"/>
                <a:cs typeface="Arial"/>
              </a:defRPr>
            </a:pPr>
            <a:r>
              <a:rPr sz="1700" b="0">
                <a:solidFill>
                  <a:srgbClr val="566B7A"/>
                </a:solidFill>
                <a:latin typeface="Arial"/>
                <a:ea typeface="Arial"/>
                <a:cs typeface="Arial"/>
              </a:rPr>
              <a:t>Seat setup, camera sessions and alert review</a:t>
            </a:r>
          </a:p>
        </p:txBody>
      </p:sp>
      <p:sp>
        <p:nvSpPr>
          <p:cNvPr id="13" name="copy">
            <a:extLst xmlns:a="http://schemas.openxmlformats.org/drawingml/2006/main">
              <a:ext uri="{FF2B5EF4-FFF2-40B4-BE49-F238E27FC236}">
                <a16:creationId xmlns:a16="http://schemas.microsoft.com/office/drawing/2014/main" id="{905A2E76-3CF7-47D3-918E-DC587C178124}"/>
              </a:ext>
            </a:extLst>
          </p:cNvPr>
          <p:cNvSpPr>
            <a:spLocks xmlns:a="http://schemas.openxmlformats.org/drawingml/2006/main" noGrp="1"/>
          </p:cNvSpPr>
          <p:nvPr/>
        </p:nvSpPr>
        <p:spPr>
          <a:xfrm xmlns:a="http://schemas.openxmlformats.org/drawingml/2006/main">
            <a:off x="609600" y="4219575"/>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142A3B"/>
                </a:solidFill>
                <a:latin typeface="Arial"/>
                <a:ea typeface="Arial"/>
                <a:cs typeface="Arial"/>
              </a:defRPr>
            </a:pPr>
            <a:r>
              <a:rPr sz="2300" b="1">
                <a:solidFill>
                  <a:srgbClr val="142A3B"/>
                </a:solidFill>
                <a:latin typeface="Arial"/>
                <a:ea typeface="Arial"/>
                <a:cs typeface="Arial"/>
              </a:rPr>
              <a:t>HOD / Dean</a:t>
            </a:r>
          </a:p>
        </p:txBody>
      </p:sp>
      <p:sp>
        <p:nvSpPr>
          <p:cNvPr id="14" name="copy">
            <a:extLst xmlns:a="http://schemas.openxmlformats.org/drawingml/2006/main">
              <a:ext uri="{FF2B5EF4-FFF2-40B4-BE49-F238E27FC236}">
                <a16:creationId xmlns:a16="http://schemas.microsoft.com/office/drawing/2014/main" id="{F2850315-5CD9-43A8-9224-D2B083DF8633}"/>
              </a:ext>
            </a:extLst>
          </p:cNvPr>
          <p:cNvSpPr>
            <a:spLocks xmlns:a="http://schemas.openxmlformats.org/drawingml/2006/main" noGrp="1"/>
          </p:cNvSpPr>
          <p:nvPr/>
        </p:nvSpPr>
        <p:spPr>
          <a:xfrm xmlns:a="http://schemas.openxmlformats.org/drawingml/2006/main">
            <a:off x="609600" y="45720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0">
                <a:solidFill>
                  <a:srgbClr val="566B7A"/>
                </a:solidFill>
                <a:latin typeface="Arial"/>
                <a:ea typeface="Arial"/>
                <a:cs typeface="Arial"/>
              </a:defRPr>
            </a:pPr>
            <a:r>
              <a:rPr sz="1700" b="0">
                <a:solidFill>
                  <a:srgbClr val="566B7A"/>
                </a:solidFill>
                <a:latin typeface="Arial"/>
                <a:ea typeface="Arial"/>
                <a:cs typeface="Arial"/>
              </a:rPr>
              <a:t>Case decisions, penalties and appeal review</a:t>
            </a:r>
          </a:p>
        </p:txBody>
      </p:sp>
      <p:sp>
        <p:nvSpPr>
          <p:cNvPr id="15" name="copy">
            <a:extLst xmlns:a="http://schemas.openxmlformats.org/drawingml/2006/main">
              <a:ext uri="{FF2B5EF4-FFF2-40B4-BE49-F238E27FC236}">
                <a16:creationId xmlns:a16="http://schemas.microsoft.com/office/drawing/2014/main" id="{ADAFF50A-24FD-445F-8541-FA9866D55404}"/>
              </a:ext>
            </a:extLst>
          </p:cNvPr>
          <p:cNvSpPr>
            <a:spLocks xmlns:a="http://schemas.openxmlformats.org/drawingml/2006/main" noGrp="1"/>
          </p:cNvSpPr>
          <p:nvPr/>
        </p:nvSpPr>
        <p:spPr>
          <a:xfrm xmlns:a="http://schemas.openxmlformats.org/drawingml/2006/main">
            <a:off x="609600" y="4962525"/>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142A3B"/>
                </a:solidFill>
                <a:latin typeface="Arial"/>
                <a:ea typeface="Arial"/>
                <a:cs typeface="Arial"/>
              </a:defRPr>
            </a:pPr>
            <a:r>
              <a:rPr sz="2300" b="1">
                <a:solidFill>
                  <a:srgbClr val="142A3B"/>
                </a:solidFill>
                <a:latin typeface="Arial"/>
                <a:ea typeface="Arial"/>
                <a:cs typeface="Arial"/>
              </a:rPr>
              <a:t>Student</a:t>
            </a:r>
          </a:p>
        </p:txBody>
      </p:sp>
      <p:sp>
        <p:nvSpPr>
          <p:cNvPr id="16" name="copy">
            <a:extLst xmlns:a="http://schemas.openxmlformats.org/drawingml/2006/main">
              <a:ext uri="{FF2B5EF4-FFF2-40B4-BE49-F238E27FC236}">
                <a16:creationId xmlns:a16="http://schemas.microsoft.com/office/drawing/2014/main" id="{15968DD4-EA22-4B95-8918-37CCCCC4444D}"/>
              </a:ext>
            </a:extLst>
          </p:cNvPr>
          <p:cNvSpPr>
            <a:spLocks xmlns:a="http://schemas.openxmlformats.org/drawingml/2006/main" noGrp="1"/>
          </p:cNvSpPr>
          <p:nvPr/>
        </p:nvSpPr>
        <p:spPr>
          <a:xfrm xmlns:a="http://schemas.openxmlformats.org/drawingml/2006/main">
            <a:off x="609600" y="531495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0">
                <a:solidFill>
                  <a:srgbClr val="566B7A"/>
                </a:solidFill>
                <a:latin typeface="Arial"/>
                <a:ea typeface="Arial"/>
                <a:cs typeface="Arial"/>
              </a:defRPr>
            </a:pPr>
            <a:r>
              <a:rPr sz="1700" b="0">
                <a:solidFill>
                  <a:srgbClr val="566B7A"/>
                </a:solidFill>
                <a:latin typeface="Arial"/>
                <a:ea typeface="Arial"/>
                <a:cs typeface="Arial"/>
              </a:rPr>
              <a:t>Own case records, notices and appeals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7331beb35b5445f"/>
          <a:stretch xmlns:a="http://schemas.openxmlformats.org/drawingml/2006/main"/>
        </p:blipFill>
        <p:spPr>
          <a:xfrm xmlns:a="http://schemas.openxmlformats.org/drawingml/2006/main">
            <a:off x="6269355" y="2181225"/>
            <a:ext cx="5311140" cy="3514725"/>
          </a:xfrm>
          <a:prstGeom xmlns:a="http://schemas.openxmlformats.org/drawingml/2006/main" prst="rect">
            <a:avLst/>
          </a:prstGeom>
        </p:spPr>
      </p:pic>
      <p:sp>
        <p:nvSpPr>
          <p:cNvPr id="18" name="copy">
            <a:extLst xmlns:a="http://schemas.openxmlformats.org/drawingml/2006/main">
              <a:ext uri="{FF2B5EF4-FFF2-40B4-BE49-F238E27FC236}">
                <a16:creationId xmlns:a16="http://schemas.microsoft.com/office/drawing/2014/main" id="{7B4A575D-5AB0-431F-8738-2710828A6D01}"/>
              </a:ext>
            </a:extLst>
          </p:cNvPr>
          <p:cNvSpPr>
            <a:spLocks xmlns:a="http://schemas.openxmlformats.org/drawingml/2006/main" noGrp="1"/>
          </p:cNvSpPr>
          <p:nvPr/>
        </p:nvSpPr>
        <p:spPr>
          <a:xfrm xmlns:a="http://schemas.openxmlformats.org/drawingml/2006/main">
            <a:off x="6276975" y="5819775"/>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6B7A"/>
                </a:solidFill>
                <a:latin typeface="Arial"/>
                <a:ea typeface="Arial"/>
                <a:cs typeface="Arial"/>
              </a:defRPr>
            </a:pPr>
            <a:r>
              <a:rPr sz="1200" b="0">
                <a:solidFill>
                  <a:srgbClr val="566B7A"/>
                </a:solidFill>
                <a:latin typeface="Arial"/>
                <a:ea typeface="Arial"/>
                <a:cs typeface="Arial"/>
              </a:rPr>
              <a:t>Dark-mode design preview with sample data</a:t>
            </a:r>
          </a:p>
        </p:txBody>
      </p:sp>
    </p:spTree>
    <p:extLst>
      <p:ext uri="{BB962C8B-B14F-4D97-AF65-F5344CB8AC3E}">
        <p14:creationId xmlns:p14="http://schemas.microsoft.com/office/powerpoint/2010/main" val="1574008169"/>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5C6E4BF3-EEAA-4910-95FA-FB761CED2F7E}"/>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COMPLETED WORK</a:t>
            </a:r>
          </a:p>
        </p:txBody>
      </p:sp>
      <p:sp>
        <p:nvSpPr>
          <p:cNvPr id="2" name="slide-title">
            <a:extLst xmlns:a="http://schemas.openxmlformats.org/drawingml/2006/main">
              <a:ext uri="{FF2B5EF4-FFF2-40B4-BE49-F238E27FC236}">
                <a16:creationId xmlns:a16="http://schemas.microsoft.com/office/drawing/2014/main" id="{6C6ADA0C-DDA0-4034-880E-EB162ADB0C93}"/>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A complete human review workflow</a:t>
            </a:r>
          </a:p>
        </p:txBody>
      </p:sp>
      <p:sp>
        <p:nvSpPr>
          <p:cNvPr id="3" name="">
            <a:extLst xmlns:a="http://schemas.openxmlformats.org/drawingml/2006/main">
              <a:ext uri="{FF2B5EF4-FFF2-40B4-BE49-F238E27FC236}">
                <a16:creationId xmlns:a16="http://schemas.microsoft.com/office/drawing/2014/main" id="{E542B597-1C2D-464D-AEE8-34D5E2965C0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37A1E334-F99C-406C-A8B1-C3A48303DD1B}"/>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A10C0FE0-0506-4877-AA25-A273B7397CBF}"/>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94DB439C-1AE1-4056-A40E-071243219A16}"/>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09</a:t>
            </a:r>
          </a:p>
        </p:txBody>
      </p:sp>
      <p:sp>
        <p:nvSpPr>
          <p:cNvPr id="7" name="copy">
            <a:extLst xmlns:a="http://schemas.openxmlformats.org/drawingml/2006/main">
              <a:ext uri="{FF2B5EF4-FFF2-40B4-BE49-F238E27FC236}">
                <a16:creationId xmlns:a16="http://schemas.microsoft.com/office/drawing/2014/main" id="{7848EAFF-76B1-4D87-B67D-7405C23B4D1C}"/>
              </a:ext>
            </a:extLst>
          </p:cNvPr>
          <p:cNvSpPr>
            <a:spLocks xmlns:a="http://schemas.openxmlformats.org/drawingml/2006/main" noGrp="1"/>
          </p:cNvSpPr>
          <p:nvPr/>
        </p:nvSpPr>
        <p:spPr>
          <a:xfrm xmlns:a="http://schemas.openxmlformats.org/drawingml/2006/main">
            <a:off x="609600" y="2066925"/>
            <a:ext cx="447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00" b="1">
                <a:solidFill>
                  <a:srgbClr val="0B9AB9"/>
                </a:solidFill>
                <a:latin typeface="Arial"/>
                <a:ea typeface="Arial"/>
                <a:cs typeface="Arial"/>
              </a:defRPr>
            </a:pPr>
            <a:r>
              <a:rPr sz="2600" b="1">
                <a:solidFill>
                  <a:srgbClr val="0B9AB9"/>
                </a:solidFill>
                <a:latin typeface="Arial"/>
                <a:ea typeface="Arial"/>
                <a:cs typeface="Arial"/>
              </a:rPr>
              <a:t>1</a:t>
            </a:r>
          </a:p>
        </p:txBody>
      </p:sp>
      <p:sp>
        <p:nvSpPr>
          <p:cNvPr id="8" name="copy">
            <a:extLst xmlns:a="http://schemas.openxmlformats.org/drawingml/2006/main">
              <a:ext uri="{FF2B5EF4-FFF2-40B4-BE49-F238E27FC236}">
                <a16:creationId xmlns:a16="http://schemas.microsoft.com/office/drawing/2014/main" id="{38BE6745-F494-4303-BA58-C6A68EA7752E}"/>
              </a:ext>
            </a:extLst>
          </p:cNvPr>
          <p:cNvSpPr>
            <a:spLocks xmlns:a="http://schemas.openxmlformats.org/drawingml/2006/main" noGrp="1"/>
          </p:cNvSpPr>
          <p:nvPr/>
        </p:nvSpPr>
        <p:spPr>
          <a:xfrm xmlns:a="http://schemas.openxmlformats.org/drawingml/2006/main">
            <a:off x="1257300" y="2085975"/>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A3B"/>
                </a:solidFill>
                <a:latin typeface="Arial"/>
                <a:ea typeface="Arial"/>
                <a:cs typeface="Arial"/>
              </a:defRPr>
            </a:pPr>
            <a:r>
              <a:rPr sz="2100" b="0">
                <a:solidFill>
                  <a:srgbClr val="142A3B"/>
                </a:solidFill>
                <a:latin typeface="Arial"/>
                <a:ea typeface="Arial"/>
                <a:cs typeface="Arial"/>
              </a:rPr>
              <a:t>Detection and saved evidence</a:t>
            </a:r>
          </a:p>
        </p:txBody>
      </p:sp>
      <p:sp>
        <p:nvSpPr>
          <p:cNvPr id="9" name="copy">
            <a:extLst xmlns:a="http://schemas.openxmlformats.org/drawingml/2006/main">
              <a:ext uri="{FF2B5EF4-FFF2-40B4-BE49-F238E27FC236}">
                <a16:creationId xmlns:a16="http://schemas.microsoft.com/office/drawing/2014/main" id="{9AC7BCF6-E1E3-4FE9-9941-EAA2E7B4CAC0}"/>
              </a:ext>
            </a:extLst>
          </p:cNvPr>
          <p:cNvSpPr>
            <a:spLocks xmlns:a="http://schemas.openxmlformats.org/drawingml/2006/main" noGrp="1"/>
          </p:cNvSpPr>
          <p:nvPr/>
        </p:nvSpPr>
        <p:spPr>
          <a:xfrm xmlns:a="http://schemas.openxmlformats.org/drawingml/2006/main">
            <a:off x="609600" y="2790825"/>
            <a:ext cx="447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00" b="1">
                <a:solidFill>
                  <a:srgbClr val="0B9AB9"/>
                </a:solidFill>
                <a:latin typeface="Arial"/>
                <a:ea typeface="Arial"/>
                <a:cs typeface="Arial"/>
              </a:defRPr>
            </a:pPr>
            <a:r>
              <a:rPr sz="2600" b="1">
                <a:solidFill>
                  <a:srgbClr val="0B9AB9"/>
                </a:solidFill>
                <a:latin typeface="Arial"/>
                <a:ea typeface="Arial"/>
                <a:cs typeface="Arial"/>
              </a:rPr>
              <a:t>2</a:t>
            </a:r>
          </a:p>
        </p:txBody>
      </p:sp>
      <p:sp>
        <p:nvSpPr>
          <p:cNvPr id="10" name="copy">
            <a:extLst xmlns:a="http://schemas.openxmlformats.org/drawingml/2006/main">
              <a:ext uri="{FF2B5EF4-FFF2-40B4-BE49-F238E27FC236}">
                <a16:creationId xmlns:a16="http://schemas.microsoft.com/office/drawing/2014/main" id="{BB9D263E-2A29-4AFE-B7AC-95C03B30A2A2}"/>
              </a:ext>
            </a:extLst>
          </p:cNvPr>
          <p:cNvSpPr>
            <a:spLocks xmlns:a="http://schemas.openxmlformats.org/drawingml/2006/main" noGrp="1"/>
          </p:cNvSpPr>
          <p:nvPr/>
        </p:nvSpPr>
        <p:spPr>
          <a:xfrm xmlns:a="http://schemas.openxmlformats.org/drawingml/2006/main">
            <a:off x="1257300" y="2809875"/>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A3B"/>
                </a:solidFill>
                <a:latin typeface="Arial"/>
                <a:ea typeface="Arial"/>
                <a:cs typeface="Arial"/>
              </a:defRPr>
            </a:pPr>
            <a:r>
              <a:rPr sz="2100" b="1">
                <a:solidFill>
                  <a:srgbClr val="142A3B"/>
                </a:solidFill>
                <a:latin typeface="Arial"/>
                <a:ea typeface="Arial"/>
                <a:cs typeface="Arial"/>
              </a:rPr>
              <a:t>Teacher confirms or dismisses</a:t>
            </a:r>
          </a:p>
        </p:txBody>
      </p:sp>
      <p:sp>
        <p:nvSpPr>
          <p:cNvPr id="11" name="copy">
            <a:extLst xmlns:a="http://schemas.openxmlformats.org/drawingml/2006/main">
              <a:ext uri="{FF2B5EF4-FFF2-40B4-BE49-F238E27FC236}">
                <a16:creationId xmlns:a16="http://schemas.microsoft.com/office/drawing/2014/main" id="{3E7A09E9-9A95-4B99-8FF4-480AAECE4F1A}"/>
              </a:ext>
            </a:extLst>
          </p:cNvPr>
          <p:cNvSpPr>
            <a:spLocks xmlns:a="http://schemas.openxmlformats.org/drawingml/2006/main" noGrp="1"/>
          </p:cNvSpPr>
          <p:nvPr/>
        </p:nvSpPr>
        <p:spPr>
          <a:xfrm xmlns:a="http://schemas.openxmlformats.org/drawingml/2006/main">
            <a:off x="609600" y="3514725"/>
            <a:ext cx="447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00" b="1">
                <a:solidFill>
                  <a:srgbClr val="0B9AB9"/>
                </a:solidFill>
                <a:latin typeface="Arial"/>
                <a:ea typeface="Arial"/>
                <a:cs typeface="Arial"/>
              </a:defRPr>
            </a:pPr>
            <a:r>
              <a:rPr sz="2600" b="1">
                <a:solidFill>
                  <a:srgbClr val="0B9AB9"/>
                </a:solidFill>
                <a:latin typeface="Arial"/>
                <a:ea typeface="Arial"/>
                <a:cs typeface="Arial"/>
              </a:rPr>
              <a:t>3</a:t>
            </a:r>
          </a:p>
        </p:txBody>
      </p:sp>
      <p:sp>
        <p:nvSpPr>
          <p:cNvPr id="12" name="copy">
            <a:extLst xmlns:a="http://schemas.openxmlformats.org/drawingml/2006/main">
              <a:ext uri="{FF2B5EF4-FFF2-40B4-BE49-F238E27FC236}">
                <a16:creationId xmlns:a16="http://schemas.microsoft.com/office/drawing/2014/main" id="{A166C9F0-AD3B-4150-B64F-679407D64B47}"/>
              </a:ext>
            </a:extLst>
          </p:cNvPr>
          <p:cNvSpPr>
            <a:spLocks xmlns:a="http://schemas.openxmlformats.org/drawingml/2006/main" noGrp="1"/>
          </p:cNvSpPr>
          <p:nvPr/>
        </p:nvSpPr>
        <p:spPr>
          <a:xfrm xmlns:a="http://schemas.openxmlformats.org/drawingml/2006/main">
            <a:off x="1257300" y="3533775"/>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42A3B"/>
                </a:solidFill>
                <a:latin typeface="Arial"/>
                <a:ea typeface="Arial"/>
                <a:cs typeface="Arial"/>
              </a:defRPr>
            </a:pPr>
            <a:r>
              <a:rPr sz="2100" b="1">
                <a:solidFill>
                  <a:srgbClr val="142A3B"/>
                </a:solidFill>
                <a:latin typeface="Arial"/>
                <a:ea typeface="Arial"/>
                <a:cs typeface="Arial"/>
              </a:rPr>
              <a:t>HOD reviews and decides</a:t>
            </a:r>
          </a:p>
        </p:txBody>
      </p:sp>
      <p:sp>
        <p:nvSpPr>
          <p:cNvPr id="13" name="copy">
            <a:extLst xmlns:a="http://schemas.openxmlformats.org/drawingml/2006/main">
              <a:ext uri="{FF2B5EF4-FFF2-40B4-BE49-F238E27FC236}">
                <a16:creationId xmlns:a16="http://schemas.microsoft.com/office/drawing/2014/main" id="{CA4BD1FB-48B3-4805-B71F-31FEB486824D}"/>
              </a:ext>
            </a:extLst>
          </p:cNvPr>
          <p:cNvSpPr>
            <a:spLocks xmlns:a="http://schemas.openxmlformats.org/drawingml/2006/main" noGrp="1"/>
          </p:cNvSpPr>
          <p:nvPr/>
        </p:nvSpPr>
        <p:spPr>
          <a:xfrm xmlns:a="http://schemas.openxmlformats.org/drawingml/2006/main">
            <a:off x="609600" y="4238625"/>
            <a:ext cx="447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00" b="1">
                <a:solidFill>
                  <a:srgbClr val="0B9AB9"/>
                </a:solidFill>
                <a:latin typeface="Arial"/>
                <a:ea typeface="Arial"/>
                <a:cs typeface="Arial"/>
              </a:defRPr>
            </a:pPr>
            <a:r>
              <a:rPr sz="2600" b="1">
                <a:solidFill>
                  <a:srgbClr val="0B9AB9"/>
                </a:solidFill>
                <a:latin typeface="Arial"/>
                <a:ea typeface="Arial"/>
                <a:cs typeface="Arial"/>
              </a:rPr>
              <a:t>4</a:t>
            </a:r>
          </a:p>
        </p:txBody>
      </p:sp>
      <p:sp>
        <p:nvSpPr>
          <p:cNvPr id="14" name="copy">
            <a:extLst xmlns:a="http://schemas.openxmlformats.org/drawingml/2006/main">
              <a:ext uri="{FF2B5EF4-FFF2-40B4-BE49-F238E27FC236}">
                <a16:creationId xmlns:a16="http://schemas.microsoft.com/office/drawing/2014/main" id="{796B72B4-70A9-47B2-8CE2-B50F5909C221}"/>
              </a:ext>
            </a:extLst>
          </p:cNvPr>
          <p:cNvSpPr>
            <a:spLocks xmlns:a="http://schemas.openxmlformats.org/drawingml/2006/main" noGrp="1"/>
          </p:cNvSpPr>
          <p:nvPr/>
        </p:nvSpPr>
        <p:spPr>
          <a:xfrm xmlns:a="http://schemas.openxmlformats.org/drawingml/2006/main">
            <a:off x="1257300" y="4257675"/>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A3B"/>
                </a:solidFill>
                <a:latin typeface="Arial"/>
                <a:ea typeface="Arial"/>
                <a:cs typeface="Arial"/>
              </a:defRPr>
            </a:pPr>
            <a:r>
              <a:rPr sz="2100" b="0">
                <a:solidFill>
                  <a:srgbClr val="142A3B"/>
                </a:solidFill>
                <a:latin typeface="Arial"/>
                <a:ea typeface="Arial"/>
                <a:cs typeface="Arial"/>
              </a:rPr>
              <a:t>Student receives notice and may appeal</a:t>
            </a:r>
          </a:p>
        </p:txBody>
      </p:sp>
      <p:sp>
        <p:nvSpPr>
          <p:cNvPr id="15" name="copy">
            <a:extLst xmlns:a="http://schemas.openxmlformats.org/drawingml/2006/main">
              <a:ext uri="{FF2B5EF4-FFF2-40B4-BE49-F238E27FC236}">
                <a16:creationId xmlns:a16="http://schemas.microsoft.com/office/drawing/2014/main" id="{289FBD20-29FB-451E-8476-E983B06F4F83}"/>
              </a:ext>
            </a:extLst>
          </p:cNvPr>
          <p:cNvSpPr>
            <a:spLocks xmlns:a="http://schemas.openxmlformats.org/drawingml/2006/main" noGrp="1"/>
          </p:cNvSpPr>
          <p:nvPr/>
        </p:nvSpPr>
        <p:spPr>
          <a:xfrm xmlns:a="http://schemas.openxmlformats.org/drawingml/2006/main">
            <a:off x="609600" y="4962525"/>
            <a:ext cx="447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00" b="1">
                <a:solidFill>
                  <a:srgbClr val="0B9AB9"/>
                </a:solidFill>
                <a:latin typeface="Arial"/>
                <a:ea typeface="Arial"/>
                <a:cs typeface="Arial"/>
              </a:defRPr>
            </a:pPr>
            <a:r>
              <a:rPr sz="2600" b="1">
                <a:solidFill>
                  <a:srgbClr val="0B9AB9"/>
                </a:solidFill>
                <a:latin typeface="Arial"/>
                <a:ea typeface="Arial"/>
                <a:cs typeface="Arial"/>
              </a:rPr>
              <a:t>5</a:t>
            </a:r>
          </a:p>
        </p:txBody>
      </p:sp>
      <p:sp>
        <p:nvSpPr>
          <p:cNvPr id="16" name="copy">
            <a:extLst xmlns:a="http://schemas.openxmlformats.org/drawingml/2006/main">
              <a:ext uri="{FF2B5EF4-FFF2-40B4-BE49-F238E27FC236}">
                <a16:creationId xmlns:a16="http://schemas.microsoft.com/office/drawing/2014/main" id="{9815F2BE-D86A-4B93-8F8E-92A6DAC6503D}"/>
              </a:ext>
            </a:extLst>
          </p:cNvPr>
          <p:cNvSpPr>
            <a:spLocks xmlns:a="http://schemas.openxmlformats.org/drawingml/2006/main" noGrp="1"/>
          </p:cNvSpPr>
          <p:nvPr/>
        </p:nvSpPr>
        <p:spPr>
          <a:xfrm xmlns:a="http://schemas.openxmlformats.org/drawingml/2006/main">
            <a:off x="1257300" y="4981575"/>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42A3B"/>
                </a:solidFill>
                <a:latin typeface="Arial"/>
                <a:ea typeface="Arial"/>
                <a:cs typeface="Arial"/>
              </a:defRPr>
            </a:pPr>
            <a:r>
              <a:rPr sz="2100" b="0">
                <a:solidFill>
                  <a:srgbClr val="142A3B"/>
                </a:solidFill>
                <a:latin typeface="Arial"/>
                <a:ea typeface="Arial"/>
                <a:cs typeface="Arial"/>
              </a:rPr>
              <a:t>HOD resolves the appeal</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1b5ba7d02f344b0"/>
          <a:stretch xmlns:a="http://schemas.openxmlformats.org/drawingml/2006/main"/>
        </p:blipFill>
        <p:spPr>
          <a:xfrm xmlns:a="http://schemas.openxmlformats.org/drawingml/2006/main">
            <a:off x="5724525" y="2057698"/>
            <a:ext cx="5857875" cy="3295055"/>
          </a:xfrm>
          <a:prstGeom xmlns:a="http://schemas.openxmlformats.org/drawingml/2006/main" prst="rect">
            <a:avLst/>
          </a:prstGeom>
        </p:spPr>
      </p:pic>
      <p:sp>
        <p:nvSpPr>
          <p:cNvPr id="18" name="copy">
            <a:extLst xmlns:a="http://schemas.openxmlformats.org/drawingml/2006/main">
              <a:ext uri="{FF2B5EF4-FFF2-40B4-BE49-F238E27FC236}">
                <a16:creationId xmlns:a16="http://schemas.microsoft.com/office/drawing/2014/main" id="{7D484F28-C5E4-42A8-9215-CD1FAF712842}"/>
              </a:ext>
            </a:extLst>
          </p:cNvPr>
          <p:cNvSpPr>
            <a:spLocks xmlns:a="http://schemas.openxmlformats.org/drawingml/2006/main" noGrp="1"/>
          </p:cNvSpPr>
          <p:nvPr/>
        </p:nvSpPr>
        <p:spPr>
          <a:xfrm xmlns:a="http://schemas.openxmlformats.org/drawingml/2006/main">
            <a:off x="5753100" y="5486400"/>
            <a:ext cx="576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6B7A"/>
                </a:solidFill>
                <a:latin typeface="Arial"/>
                <a:ea typeface="Arial"/>
                <a:cs typeface="Arial"/>
              </a:defRPr>
            </a:pPr>
            <a:r>
              <a:rPr sz="1200" b="0">
                <a:solidFill>
                  <a:srgbClr val="566B7A"/>
                </a:solidFill>
                <a:latin typeface="Arial"/>
                <a:ea typeface="Arial"/>
                <a:cs typeface="Arial"/>
              </a:rPr>
              <a:t>Recorded case review with sample accounts</a:t>
            </a:r>
          </a:p>
        </p:txBody>
      </p:sp>
      <p:sp>
        <p:nvSpPr>
          <p:cNvPr id="19" name="copy">
            <a:extLst xmlns:a="http://schemas.openxmlformats.org/drawingml/2006/main">
              <a:ext uri="{FF2B5EF4-FFF2-40B4-BE49-F238E27FC236}">
                <a16:creationId xmlns:a16="http://schemas.microsoft.com/office/drawing/2014/main" id="{91FAB088-BC2E-428A-AF7C-1DBF4A7E7DBF}"/>
              </a:ext>
            </a:extLst>
          </p:cNvPr>
          <p:cNvSpPr>
            <a:spLocks xmlns:a="http://schemas.openxmlformats.org/drawingml/2006/main" noGrp="1"/>
          </p:cNvSpPr>
          <p:nvPr/>
        </p:nvSpPr>
        <p:spPr>
          <a:xfrm xmlns:a="http://schemas.openxmlformats.org/drawingml/2006/main">
            <a:off x="5724525" y="5838825"/>
            <a:ext cx="5857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0B9AB9"/>
                </a:solidFill>
                <a:latin typeface="Arial"/>
                <a:ea typeface="Arial"/>
                <a:cs typeface="Arial"/>
              </a:defRPr>
            </a:pPr>
            <a:r>
              <a:rPr sz="1800" b="1">
                <a:solidFill>
                  <a:srgbClr val="0B9AB9"/>
                </a:solidFill>
                <a:latin typeface="Arial"/>
                <a:ea typeface="Arial"/>
                <a:cs typeface="Arial"/>
              </a:rPr>
              <a:t>Accepted appeals revoke the penalty.</a:t>
            </a:r>
          </a:p>
        </p:txBody>
      </p:sp>
    </p:spTree>
    <p:extLst>
      <p:ext uri="{BB962C8B-B14F-4D97-AF65-F5344CB8AC3E}">
        <p14:creationId xmlns:p14="http://schemas.microsoft.com/office/powerpoint/2010/main" val="744826627"/>
      </p:ext>
    </p:extLst>
  </p:cSld>
</p:sld>
</file>

<file path=ppt/slides/slide10.xml><?xml version="1.0" encoding="utf-8"?>
<p:sld xmlns:p="http://schemas.openxmlformats.org/presentationml/2006/main">
  <p:cSld>
    <p:bg>
      <p:bgPr>
        <a:solidFill xmlns:a="http://schemas.openxmlformats.org/drawingml/2006/main">
          <a:srgbClr val="0C1B2B"/>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B86F69EF-8CB4-43B5-917B-9F382F8F2548}"/>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8D9E4"/>
                </a:solidFill>
                <a:latin typeface="Arial"/>
                <a:ea typeface="Arial"/>
                <a:cs typeface="Arial"/>
              </a:defRPr>
            </a:pPr>
            <a:r>
              <a:rPr sz="1050" b="1">
                <a:solidFill>
                  <a:srgbClr val="B8D9E4"/>
                </a:solidFill>
                <a:latin typeface="Arial"/>
                <a:ea typeface="Arial"/>
                <a:cs typeface="Arial"/>
              </a:rPr>
              <a:t>COMPLETED WORK</a:t>
            </a:r>
          </a:p>
        </p:txBody>
      </p:sp>
      <p:sp>
        <p:nvSpPr>
          <p:cNvPr id="2" name="slide-title">
            <a:extLst xmlns:a="http://schemas.openxmlformats.org/drawingml/2006/main">
              <a:ext uri="{FF2B5EF4-FFF2-40B4-BE49-F238E27FC236}">
                <a16:creationId xmlns:a16="http://schemas.microsoft.com/office/drawing/2014/main" id="{CDEBF584-4A49-405F-969C-F3861C4CFE69}"/>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FFFFFF"/>
                </a:solidFill>
                <a:latin typeface="Arial"/>
                <a:ea typeface="Arial"/>
                <a:cs typeface="Arial"/>
              </a:defRPr>
            </a:pPr>
            <a:r>
              <a:rPr sz="3400" b="1">
                <a:solidFill>
                  <a:srgbClr val="FFFFFF"/>
                </a:solidFill>
                <a:latin typeface="Arial"/>
                <a:ea typeface="Arial"/>
                <a:cs typeface="Arial"/>
              </a:rPr>
              <a:t>CSV files automate exam setup</a:t>
            </a:r>
          </a:p>
        </p:txBody>
      </p:sp>
      <p:sp>
        <p:nvSpPr>
          <p:cNvPr id="3" name="">
            <a:extLst xmlns:a="http://schemas.openxmlformats.org/drawingml/2006/main">
              <a:ext uri="{FF2B5EF4-FFF2-40B4-BE49-F238E27FC236}">
                <a16:creationId xmlns:a16="http://schemas.microsoft.com/office/drawing/2014/main" id="{B5558F17-CDBE-46F5-988D-B19ACA1B498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84255"/>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21714B18-E570-4F8B-BED8-B2E9C8147A17}"/>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B8D9E4"/>
                </a:solidFill>
                <a:latin typeface="Arial"/>
                <a:ea typeface="Arial"/>
                <a:cs typeface="Arial"/>
              </a:defRPr>
            </a:pPr>
            <a:r>
              <a:rPr sz="1000" b="1">
                <a:solidFill>
                  <a:srgbClr val="B8D9E4"/>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C702D43C-19A5-4E9F-AA1F-C78407A8747D}"/>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B8D9E4"/>
                </a:solidFill>
                <a:latin typeface="Arial"/>
                <a:ea typeface="Arial"/>
                <a:cs typeface="Arial"/>
              </a:defRPr>
            </a:pPr>
            <a:r>
              <a:rPr sz="1000" b="0">
                <a:solidFill>
                  <a:srgbClr val="B8D9E4"/>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CE97B315-FF8D-4B3B-81E2-CF15292D4840}"/>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B8D9E4"/>
                </a:solidFill>
                <a:latin typeface="Arial"/>
                <a:ea typeface="Arial"/>
                <a:cs typeface="Arial"/>
              </a:defRPr>
            </a:pPr>
            <a:r>
              <a:rPr sz="1100" b="1">
                <a:solidFill>
                  <a:srgbClr val="B8D9E4"/>
                </a:solidFill>
                <a:latin typeface="Arial"/>
                <a:ea typeface="Arial"/>
                <a:cs typeface="Arial"/>
              </a:rPr>
              <a:t>10</a:t>
            </a:r>
          </a:p>
        </p:txBody>
      </p:sp>
      <p:sp>
        <p:nvSpPr>
          <p:cNvPr id="7" name="copy">
            <a:extLst xmlns:a="http://schemas.openxmlformats.org/drawingml/2006/main">
              <a:ext uri="{FF2B5EF4-FFF2-40B4-BE49-F238E27FC236}">
                <a16:creationId xmlns:a16="http://schemas.microsoft.com/office/drawing/2014/main" id="{1F63149A-699D-4A54-BC7E-BB31852F672F}"/>
              </a:ext>
            </a:extLst>
          </p:cNvPr>
          <p:cNvSpPr>
            <a:spLocks xmlns:a="http://schemas.openxmlformats.org/drawingml/2006/main" noGrp="1"/>
          </p:cNvSpPr>
          <p:nvPr/>
        </p:nvSpPr>
        <p:spPr>
          <a:xfrm xmlns:a="http://schemas.openxmlformats.org/drawingml/2006/main">
            <a:off x="609600" y="203835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Four reusable inputs</a:t>
            </a:r>
          </a:p>
        </p:txBody>
      </p:sp>
      <p:sp>
        <p:nvSpPr>
          <p:cNvPr id="8" name="copy">
            <a:extLst xmlns:a="http://schemas.openxmlformats.org/drawingml/2006/main">
              <a:ext uri="{FF2B5EF4-FFF2-40B4-BE49-F238E27FC236}">
                <a16:creationId xmlns:a16="http://schemas.microsoft.com/office/drawing/2014/main" id="{E3D11BED-C927-471A-8813-5B314BBF21B9}"/>
              </a:ext>
            </a:extLst>
          </p:cNvPr>
          <p:cNvSpPr>
            <a:spLocks xmlns:a="http://schemas.openxmlformats.org/drawingml/2006/main" noGrp="1"/>
          </p:cNvSpPr>
          <p:nvPr/>
        </p:nvSpPr>
        <p:spPr>
          <a:xfrm xmlns:a="http://schemas.openxmlformats.org/drawingml/2006/main">
            <a:off x="609600" y="2676525"/>
            <a:ext cx="40957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B8D9E4"/>
                </a:solidFill>
                <a:latin typeface="Arial"/>
                <a:ea typeface="Arial"/>
                <a:cs typeface="Arial"/>
              </a:defRPr>
            </a:pPr>
            <a:r>
              <a:rPr sz="2400" b="0">
                <a:solidFill>
                  <a:srgbClr val="B8D9E4"/>
                </a:solidFill>
                <a:latin typeface="Arial"/>
                <a:ea typeface="Arial"/>
                <a:cs typeface="Arial"/>
              </a:rPr>
              <a:t>Student roster</a:t>
            </a:r>
          </a:p>
          <a:p xmlns:a="http://schemas.openxmlformats.org/drawingml/2006/main">
            <a:pPr>
              <a:defRPr sz="2400" b="0">
                <a:solidFill>
                  <a:srgbClr val="B8D9E4"/>
                </a:solidFill>
                <a:latin typeface="Arial"/>
                <a:ea typeface="Arial"/>
                <a:cs typeface="Arial"/>
              </a:defRPr>
            </a:pPr>
            <a:r>
              <a:rPr sz="2400" b="0">
                <a:solidFill>
                  <a:srgbClr val="B8D9E4"/>
                </a:solidFill>
                <a:latin typeface="Arial"/>
                <a:ea typeface="Arial"/>
                <a:cs typeface="Arial"/>
              </a:rPr>
              <a:t>Classroom inventory</a:t>
            </a:r>
          </a:p>
          <a:p xmlns:a="http://schemas.openxmlformats.org/drawingml/2006/main">
            <a:pPr>
              <a:defRPr sz="2400" b="0">
                <a:solidFill>
                  <a:srgbClr val="B8D9E4"/>
                </a:solidFill>
                <a:latin typeface="Arial"/>
                <a:ea typeface="Arial"/>
                <a:cs typeface="Arial"/>
              </a:defRPr>
            </a:pPr>
            <a:r>
              <a:rPr sz="2400" b="0">
                <a:solidFill>
                  <a:srgbClr val="B8D9E4"/>
                </a:solidFill>
                <a:latin typeface="Arial"/>
                <a:ea typeface="Arial"/>
                <a:cs typeface="Arial"/>
              </a:rPr>
              <a:t>Exam schedule</a:t>
            </a:r>
          </a:p>
          <a:p xmlns:a="http://schemas.openxmlformats.org/drawingml/2006/main">
            <a:pPr>
              <a:defRPr sz="2400" b="0">
                <a:solidFill>
                  <a:srgbClr val="B8D9E4"/>
                </a:solidFill>
                <a:latin typeface="Arial"/>
                <a:ea typeface="Arial"/>
                <a:cs typeface="Arial"/>
              </a:defRPr>
            </a:pPr>
            <a:r>
              <a:rPr sz="2400" b="0">
                <a:solidFill>
                  <a:srgbClr val="B8D9E4"/>
                </a:solidFill>
                <a:latin typeface="Arial"/>
                <a:ea typeface="Arial"/>
                <a:cs typeface="Arial"/>
              </a:rPr>
              <a:t>Invigilator assignments</a:t>
            </a:r>
          </a:p>
        </p:txBody>
      </p:sp>
      <p:sp>
        <p:nvSpPr>
          <p:cNvPr id="9" name="copy">
            <a:extLst xmlns:a="http://schemas.openxmlformats.org/drawingml/2006/main">
              <a:ext uri="{FF2B5EF4-FFF2-40B4-BE49-F238E27FC236}">
                <a16:creationId xmlns:a16="http://schemas.microsoft.com/office/drawing/2014/main" id="{FFE4C2F6-3E5A-4EDB-B9E3-0DCD399CDAF9}"/>
              </a:ext>
            </a:extLst>
          </p:cNvPr>
          <p:cNvSpPr>
            <a:spLocks xmlns:a="http://schemas.openxmlformats.org/drawingml/2006/main" noGrp="1"/>
          </p:cNvSpPr>
          <p:nvPr/>
        </p:nvSpPr>
        <p:spPr>
          <a:xfrm xmlns:a="http://schemas.openxmlformats.org/drawingml/2006/main">
            <a:off x="609600" y="50387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Validation before saving</a:t>
            </a:r>
          </a:p>
        </p:txBody>
      </p:sp>
      <p:sp>
        <p:nvSpPr>
          <p:cNvPr id="10" name="copy">
            <a:extLst xmlns:a="http://schemas.openxmlformats.org/drawingml/2006/main">
              <a:ext uri="{FF2B5EF4-FFF2-40B4-BE49-F238E27FC236}">
                <a16:creationId xmlns:a16="http://schemas.microsoft.com/office/drawing/2014/main" id="{60A05822-FFCA-46DC-A341-C4D625010DDB}"/>
              </a:ext>
            </a:extLst>
          </p:cNvPr>
          <p:cNvSpPr>
            <a:spLocks xmlns:a="http://schemas.openxmlformats.org/drawingml/2006/main" noGrp="1"/>
          </p:cNvSpPr>
          <p:nvPr/>
        </p:nvSpPr>
        <p:spPr>
          <a:xfrm xmlns:a="http://schemas.openxmlformats.org/drawingml/2006/main">
            <a:off x="609600" y="5467350"/>
            <a:ext cx="4095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8D9E4"/>
                </a:solidFill>
                <a:latin typeface="Arial"/>
                <a:ea typeface="Arial"/>
                <a:cs typeface="Arial"/>
              </a:defRPr>
            </a:pPr>
            <a:r>
              <a:rPr sz="1800" b="0">
                <a:solidFill>
                  <a:srgbClr val="B8D9E4"/>
                </a:solidFill>
                <a:latin typeface="Arial"/>
                <a:ea typeface="Arial"/>
                <a:cs typeface="Arial"/>
              </a:rPr>
              <a:t>Linked records, conflict checks and duplicate protection.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0db7db3a1e54997"/>
          <a:stretch xmlns:a="http://schemas.openxmlformats.org/drawingml/2006/main"/>
        </p:blipFill>
        <p:spPr>
          <a:xfrm xmlns:a="http://schemas.openxmlformats.org/drawingml/2006/main">
            <a:off x="5544089" y="1695450"/>
            <a:ext cx="5713923" cy="4457700"/>
          </a:xfrm>
          <a:prstGeom xmlns:a="http://schemas.openxmlformats.org/drawingml/2006/main" prst="rect">
            <a:avLst/>
          </a:prstGeom>
        </p:spPr>
      </p:pic>
    </p:spTree>
    <p:extLst>
      <p:ext uri="{BB962C8B-B14F-4D97-AF65-F5344CB8AC3E}">
        <p14:creationId xmlns:p14="http://schemas.microsoft.com/office/powerpoint/2010/main" val="999807891"/>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0F274B71-D462-4A2D-A433-B7B90C01E67E}"/>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COMPLETED WORK</a:t>
            </a:r>
          </a:p>
        </p:txBody>
      </p:sp>
      <p:sp>
        <p:nvSpPr>
          <p:cNvPr id="2" name="slide-title">
            <a:extLst xmlns:a="http://schemas.openxmlformats.org/drawingml/2006/main">
              <a:ext uri="{FF2B5EF4-FFF2-40B4-BE49-F238E27FC236}">
                <a16:creationId xmlns:a16="http://schemas.microsoft.com/office/drawing/2014/main" id="{1983399B-E077-4A3E-AC08-7CF14C891E17}"/>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Reusable seat maps and setup templates</a:t>
            </a:r>
          </a:p>
        </p:txBody>
      </p:sp>
      <p:sp>
        <p:nvSpPr>
          <p:cNvPr id="3" name="">
            <a:extLst xmlns:a="http://schemas.openxmlformats.org/drawingml/2006/main">
              <a:ext uri="{FF2B5EF4-FFF2-40B4-BE49-F238E27FC236}">
                <a16:creationId xmlns:a16="http://schemas.microsoft.com/office/drawing/2014/main" id="{2A7E5F97-FF70-4204-A25B-36B8435A01A7}"/>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9FEB7088-926D-4118-B378-B82F5555EA67}"/>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994A3B34-8405-4486-B213-A103EE2CDC2D}"/>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098C666A-5D5B-40FB-ABBA-D53EDDC6A6A7}"/>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11</a:t>
            </a:r>
          </a:p>
        </p:txBody>
      </p:sp>
      <p:sp>
        <p:nvSpPr>
          <p:cNvPr id="7" name="copy">
            <a:extLst xmlns:a="http://schemas.openxmlformats.org/drawingml/2006/main">
              <a:ext uri="{FF2B5EF4-FFF2-40B4-BE49-F238E27FC236}">
                <a16:creationId xmlns:a16="http://schemas.microsoft.com/office/drawing/2014/main" id="{A784AA14-0538-4D94-87A6-3DFD28CC62D8}"/>
              </a:ext>
            </a:extLst>
          </p:cNvPr>
          <p:cNvSpPr>
            <a:spLocks xmlns:a="http://schemas.openxmlformats.org/drawingml/2006/main" noGrp="1"/>
          </p:cNvSpPr>
          <p:nvPr/>
        </p:nvSpPr>
        <p:spPr>
          <a:xfrm xmlns:a="http://schemas.openxmlformats.org/drawingml/2006/main">
            <a:off x="609600" y="2095500"/>
            <a:ext cx="404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Generate a layout</a:t>
            </a:r>
          </a:p>
        </p:txBody>
      </p:sp>
      <p:sp>
        <p:nvSpPr>
          <p:cNvPr id="8" name="copy">
            <a:extLst xmlns:a="http://schemas.openxmlformats.org/drawingml/2006/main">
              <a:ext uri="{FF2B5EF4-FFF2-40B4-BE49-F238E27FC236}">
                <a16:creationId xmlns:a16="http://schemas.microsoft.com/office/drawing/2014/main" id="{F324CC2D-6B40-446D-B704-99E374C73084}"/>
              </a:ext>
            </a:extLst>
          </p:cNvPr>
          <p:cNvSpPr>
            <a:spLocks xmlns:a="http://schemas.openxmlformats.org/drawingml/2006/main" noGrp="1"/>
          </p:cNvSpPr>
          <p:nvPr/>
        </p:nvSpPr>
        <p:spPr>
          <a:xfrm xmlns:a="http://schemas.openxmlformats.org/drawingml/2006/main">
            <a:off x="609600" y="2505075"/>
            <a:ext cx="4048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Create a reusable seat grid for the exam room.</a:t>
            </a:r>
          </a:p>
        </p:txBody>
      </p:sp>
      <p:sp>
        <p:nvSpPr>
          <p:cNvPr id="9" name="copy">
            <a:extLst xmlns:a="http://schemas.openxmlformats.org/drawingml/2006/main">
              <a:ext uri="{FF2B5EF4-FFF2-40B4-BE49-F238E27FC236}">
                <a16:creationId xmlns:a16="http://schemas.microsoft.com/office/drawing/2014/main" id="{208AF816-CC42-4CBC-9529-B87518C8540B}"/>
              </a:ext>
            </a:extLst>
          </p:cNvPr>
          <p:cNvSpPr>
            <a:spLocks xmlns:a="http://schemas.openxmlformats.org/drawingml/2006/main" noGrp="1"/>
          </p:cNvSpPr>
          <p:nvPr/>
        </p:nvSpPr>
        <p:spPr>
          <a:xfrm xmlns:a="http://schemas.openxmlformats.org/drawingml/2006/main">
            <a:off x="609600" y="3438525"/>
            <a:ext cx="404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Assign students</a:t>
            </a:r>
          </a:p>
        </p:txBody>
      </p:sp>
      <p:sp>
        <p:nvSpPr>
          <p:cNvPr id="10" name="copy">
            <a:extLst xmlns:a="http://schemas.openxmlformats.org/drawingml/2006/main">
              <a:ext uri="{FF2B5EF4-FFF2-40B4-BE49-F238E27FC236}">
                <a16:creationId xmlns:a16="http://schemas.microsoft.com/office/drawing/2014/main" id="{A06DE2F7-CDCF-41A4-AEFE-8F9855A99744}"/>
              </a:ext>
            </a:extLst>
          </p:cNvPr>
          <p:cNvSpPr>
            <a:spLocks xmlns:a="http://schemas.openxmlformats.org/drawingml/2006/main" noGrp="1"/>
          </p:cNvSpPr>
          <p:nvPr/>
        </p:nvSpPr>
        <p:spPr>
          <a:xfrm xmlns:a="http://schemas.openxmlformats.org/drawingml/2006/main">
            <a:off x="609600" y="3848100"/>
            <a:ext cx="4048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Import registered student numbers into numbered seats.</a:t>
            </a:r>
          </a:p>
        </p:txBody>
      </p:sp>
      <p:sp>
        <p:nvSpPr>
          <p:cNvPr id="11" name="copy">
            <a:extLst xmlns:a="http://schemas.openxmlformats.org/drawingml/2006/main">
              <a:ext uri="{FF2B5EF4-FFF2-40B4-BE49-F238E27FC236}">
                <a16:creationId xmlns:a16="http://schemas.microsoft.com/office/drawing/2014/main" id="{ADCDCD59-2E41-4D0C-8258-2C5D69C09D70}"/>
              </a:ext>
            </a:extLst>
          </p:cNvPr>
          <p:cNvSpPr>
            <a:spLocks xmlns:a="http://schemas.openxmlformats.org/drawingml/2006/main" noGrp="1"/>
          </p:cNvSpPr>
          <p:nvPr/>
        </p:nvSpPr>
        <p:spPr>
          <a:xfrm xmlns:a="http://schemas.openxmlformats.org/drawingml/2006/main">
            <a:off x="609600" y="4781550"/>
            <a:ext cx="4048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Align the camera</a:t>
            </a:r>
          </a:p>
        </p:txBody>
      </p:sp>
      <p:sp>
        <p:nvSpPr>
          <p:cNvPr id="12" name="copy">
            <a:extLst xmlns:a="http://schemas.openxmlformats.org/drawingml/2006/main">
              <a:ext uri="{FF2B5EF4-FFF2-40B4-BE49-F238E27FC236}">
                <a16:creationId xmlns:a16="http://schemas.microsoft.com/office/drawing/2014/main" id="{D1B9B63A-C61A-42EC-87A1-590AF095D7B6}"/>
              </a:ext>
            </a:extLst>
          </p:cNvPr>
          <p:cNvSpPr>
            <a:spLocks xmlns:a="http://schemas.openxmlformats.org/drawingml/2006/main" noGrp="1"/>
          </p:cNvSpPr>
          <p:nvPr/>
        </p:nvSpPr>
        <p:spPr>
          <a:xfrm xmlns:a="http://schemas.openxmlformats.org/drawingml/2006/main">
            <a:off x="609600" y="5191125"/>
            <a:ext cx="4048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Adjust seat polygons to match the real camera view.</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7340ec54d224021"/>
          <a:stretch xmlns:a="http://schemas.openxmlformats.org/drawingml/2006/main"/>
        </p:blipFill>
        <p:spPr>
          <a:xfrm xmlns:a="http://schemas.openxmlformats.org/drawingml/2006/main">
            <a:off x="5458460" y="1952625"/>
            <a:ext cx="5770880" cy="4057650"/>
          </a:xfrm>
          <a:prstGeom xmlns:a="http://schemas.openxmlformats.org/drawingml/2006/main" prst="rect">
            <a:avLst/>
          </a:prstGeom>
        </p:spPr>
      </p:pic>
      <p:sp>
        <p:nvSpPr>
          <p:cNvPr id="14" name="copy">
            <a:extLst xmlns:a="http://schemas.openxmlformats.org/drawingml/2006/main">
              <a:ext uri="{FF2B5EF4-FFF2-40B4-BE49-F238E27FC236}">
                <a16:creationId xmlns:a16="http://schemas.microsoft.com/office/drawing/2014/main" id="{A55A9C7B-2B0B-42E8-A510-7C517A70C190}"/>
              </a:ext>
            </a:extLst>
          </p:cNvPr>
          <p:cNvSpPr>
            <a:spLocks xmlns:a="http://schemas.openxmlformats.org/drawingml/2006/main" noGrp="1"/>
          </p:cNvSpPr>
          <p:nvPr/>
        </p:nvSpPr>
        <p:spPr>
          <a:xfrm xmlns:a="http://schemas.openxmlformats.org/drawingml/2006/main">
            <a:off x="5305425" y="6096000"/>
            <a:ext cx="628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566B7A"/>
                </a:solidFill>
                <a:latin typeface="Arial"/>
                <a:ea typeface="Arial"/>
                <a:cs typeface="Arial"/>
              </a:defRPr>
            </a:pPr>
            <a:r>
              <a:rPr sz="1200" b="0">
                <a:solidFill>
                  <a:srgbClr val="566B7A"/>
                </a:solidFill>
                <a:latin typeface="Arial"/>
                <a:ea typeface="Arial"/>
                <a:cs typeface="Arial"/>
              </a:rPr>
              <a:t>Seat-grid design preview with sample data</a:t>
            </a:r>
          </a:p>
        </p:txBody>
      </p:sp>
    </p:spTree>
    <p:extLst>
      <p:ext uri="{BB962C8B-B14F-4D97-AF65-F5344CB8AC3E}">
        <p14:creationId xmlns:p14="http://schemas.microsoft.com/office/powerpoint/2010/main" val="574854507"/>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F3C2EC9-2DE1-4301-93C9-FBF0299F7C86}"/>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STATUS AS OF 4 OCTOBER 2026</a:t>
            </a:r>
          </a:p>
        </p:txBody>
      </p:sp>
      <p:sp>
        <p:nvSpPr>
          <p:cNvPr id="2" name="slide-title">
            <a:extLst xmlns:a="http://schemas.openxmlformats.org/drawingml/2006/main">
              <a:ext uri="{FF2B5EF4-FFF2-40B4-BE49-F238E27FC236}">
                <a16:creationId xmlns:a16="http://schemas.microsoft.com/office/drawing/2014/main" id="{3180AE4F-8750-43A2-8100-C767D866F8BD}"/>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Current development progress</a:t>
            </a:r>
          </a:p>
        </p:txBody>
      </p:sp>
      <p:sp>
        <p:nvSpPr>
          <p:cNvPr id="3" name="">
            <a:extLst xmlns:a="http://schemas.openxmlformats.org/drawingml/2006/main">
              <a:ext uri="{FF2B5EF4-FFF2-40B4-BE49-F238E27FC236}">
                <a16:creationId xmlns:a16="http://schemas.microsoft.com/office/drawing/2014/main" id="{4EF1C0A0-8342-4243-B9E2-24B37DE0C14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27EF9327-0170-4FBD-9E88-6EDC6D5D2DAB}"/>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944ED1D9-B8B4-4AE4-A0E6-960C3A17960C}"/>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EE325DE7-D884-4BA0-8A0E-F93BBB8FD0AE}"/>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12</a:t>
            </a:r>
          </a:p>
        </p:txBody>
      </p:sp>
      <p:graphicFrame>
        <p:nvGraphicFramePr>
          <p:cNvPr id="14" name=""/>
          <p:cNvGraphicFramePr/>
          <p:nvPr/>
        </p:nvGraphicFramePr>
        <p:xfrm>
          <a:off xmlns:a="http://schemas.openxmlformats.org/drawingml/2006/main" x="609600" y="1828800"/>
          <a:ext xmlns:a="http://schemas.openxmlformats.org/drawingml/2006/main" cx="10972800" cy="4067175"/>
        </p:xfrm>
        <a:graphic xmlns:a="http://schemas.openxmlformats.org/drawingml/2006/main">
          <a:graphicData uri="http://schemas.openxmlformats.org/drawingml/2006/table">
            <a:tbl>
              <a:tblPr/>
              <a:tblGrid>
                <a:gridCol w="2619375"/>
                <a:gridCol w="3038475"/>
                <a:gridCol w="5314950"/>
              </a:tblGrid>
              <a:tr h="476250">
                <a:tc>
                  <a:txBody>
                    <a:bodyPr lIns="123825" tIns="76200" rIns="104775" bIns="76200"/>
                    <a:lstStyle/>
                    <a:p>
                      <a:r>
                        <a:rPr sz="1600" b="1">
                          <a:solidFill>
                            <a:srgbClr val="FFFFFF"/>
                          </a:solidFill>
                          <a:latin typeface="Arial"/>
                          <a:ea typeface="Arial"/>
                          <a:cs typeface="Arial"/>
                        </a:rPr>
                        <a:t>Area</a:t>
                      </a:r>
                    </a:p>
                  </a:txBody>
                  <a:tcPr marL="91440" marR="91440" marT="45720" marB="45720" anchor="ctr">
                    <a:solidFill>
                      <a:srgbClr val="0C1B2B"/>
                    </a:solidFill>
                  </a:tcPr>
                </a:tc>
                <a:tc>
                  <a:txBody>
                    <a:bodyPr lIns="123825" tIns="76200" rIns="104775" bIns="76200"/>
                    <a:lstStyle/>
                    <a:p>
                      <a:r>
                        <a:rPr sz="1600" b="1">
                          <a:solidFill>
                            <a:srgbClr val="FFFFFF"/>
                          </a:solidFill>
                          <a:latin typeface="Arial"/>
                          <a:ea typeface="Arial"/>
                          <a:cs typeface="Arial"/>
                        </a:rPr>
                        <a:t>Current status</a:t>
                      </a:r>
                    </a:p>
                  </a:txBody>
                  <a:tcPr marL="91440" marR="91440" marT="45720" marB="45720" anchor="ctr">
                    <a:solidFill>
                      <a:srgbClr val="0C1B2B"/>
                    </a:solidFill>
                  </a:tcPr>
                </a:tc>
                <a:tc>
                  <a:txBody>
                    <a:bodyPr lIns="123825" tIns="76200" rIns="104775" bIns="76200"/>
                    <a:lstStyle/>
                    <a:p>
                      <a:r>
                        <a:rPr sz="1600" b="1">
                          <a:solidFill>
                            <a:srgbClr val="FFFFFF"/>
                          </a:solidFill>
                          <a:latin typeface="Arial"/>
                          <a:ea typeface="Arial"/>
                          <a:cs typeface="Arial"/>
                        </a:rPr>
                        <a:t>Evidence or next step</a:t>
                      </a:r>
                    </a:p>
                  </a:txBody>
                  <a:tcPr marL="91440" marR="91440" marT="45720" marB="45720" anchor="ctr">
                    <a:solidFill>
                      <a:srgbClr val="0C1B2B"/>
                    </a:solidFill>
                  </a:tcPr>
                </a:tc>
              </a:tr>
              <a:tr h="598488">
                <a:tc>
                  <a:txBody>
                    <a:bodyPr lIns="123825" tIns="76200" rIns="104775" bIns="76200"/>
                    <a:lstStyle/>
                    <a:p>
                      <a:r>
                        <a:rPr sz="1700" b="1">
                          <a:solidFill>
                            <a:srgbClr val="142A3B"/>
                          </a:solidFill>
                          <a:latin typeface="Arial"/>
                          <a:ea typeface="Arial"/>
                          <a:cs typeface="Arial"/>
                        </a:rPr>
                        <a:t>Core monitoring</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Working local prototype</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Phone/book alerts and calibrated head pose</a:t>
                      </a:r>
                    </a:p>
                  </a:txBody>
                  <a:tcPr marL="91440" marR="91440" marT="45720" marB="45720" anchor="ctr">
                    <a:solidFill>
                      <a:srgbClr val="FFFFFF"/>
                    </a:solidFill>
                  </a:tcPr>
                </a:tc>
              </a:tr>
              <a:tr h="598488">
                <a:tc>
                  <a:txBody>
                    <a:bodyPr lIns="123825" tIns="76200" rIns="104775" bIns="76200"/>
                    <a:lstStyle/>
                    <a:p>
                      <a:r>
                        <a:rPr sz="1700" b="1">
                          <a:solidFill>
                            <a:srgbClr val="142A3B"/>
                          </a:solidFill>
                          <a:latin typeface="Arial"/>
                          <a:ea typeface="Arial"/>
                          <a:cs typeface="Arial"/>
                        </a:rPr>
                        <a:t>Web portals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Integrated</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Five roles, authentication and live record refresh</a:t>
                      </a:r>
                    </a:p>
                  </a:txBody>
                  <a:tcPr marL="91440" marR="91440" marT="45720" marB="45720" anchor="ctr">
                    <a:solidFill>
                      <a:srgbClr val="EAF1F5"/>
                    </a:solidFill>
                  </a:tcPr>
                </a:tc>
              </a:tr>
              <a:tr h="598488">
                <a:tc>
                  <a:txBody>
                    <a:bodyPr lIns="123825" tIns="76200" rIns="104775" bIns="76200"/>
                    <a:lstStyle/>
                    <a:p>
                      <a:r>
                        <a:rPr sz="1700" b="1">
                          <a:solidFill>
                            <a:srgbClr val="142A3B"/>
                          </a:solidFill>
                          <a:latin typeface="Arial"/>
                          <a:ea typeface="Arial"/>
                          <a:cs typeface="Arial"/>
                        </a:rPr>
                        <a:t>Case review</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Workflow verified</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Teacher review, HOD decision and student appeal</a:t>
                      </a:r>
                    </a:p>
                  </a:txBody>
                  <a:tcPr marL="91440" marR="91440" marT="45720" marB="45720" anchor="ctr">
                    <a:solidFill>
                      <a:srgbClr val="FFFFFF"/>
                    </a:solidFill>
                  </a:tcPr>
                </a:tc>
              </a:tr>
              <a:tr h="598488">
                <a:tc>
                  <a:txBody>
                    <a:bodyPr lIns="123825" tIns="76200" rIns="104775" bIns="76200"/>
                    <a:lstStyle/>
                    <a:p>
                      <a:r>
                        <a:rPr sz="1700" b="1">
                          <a:solidFill>
                            <a:srgbClr val="142A3B"/>
                          </a:solidFill>
                          <a:latin typeface="Arial"/>
                          <a:ea typeface="Arial"/>
                          <a:cs typeface="Arial"/>
                        </a:rPr>
                        <a:t>Exam setup</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Browser tested</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Four CSV inputs, permissions and seat tools</a:t>
                      </a:r>
                    </a:p>
                  </a:txBody>
                  <a:tcPr marL="91440" marR="91440" marT="45720" marB="45720" anchor="ctr">
                    <a:solidFill>
                      <a:srgbClr val="EAF1F5"/>
                    </a:solidFill>
                  </a:tcPr>
                </a:tc>
              </a:tr>
              <a:tr h="598488">
                <a:tc>
                  <a:txBody>
                    <a:bodyPr lIns="123825" tIns="76200" rIns="104775" bIns="76200"/>
                    <a:lstStyle/>
                    <a:p>
                      <a:r>
                        <a:rPr sz="1700" b="1">
                          <a:solidFill>
                            <a:srgbClr val="142A3B"/>
                          </a:solidFill>
                          <a:latin typeface="Arial"/>
                          <a:ea typeface="Arial"/>
                          <a:cs typeface="Arial"/>
                        </a:rPr>
                        <a:t>Notices and devices</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Partially implemented</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Text notices and MQTT; PDF, email and ESP32 pending</a:t>
                      </a:r>
                    </a:p>
                  </a:txBody>
                  <a:tcPr marL="91440" marR="91440" marT="45720" marB="45720" anchor="ctr">
                    <a:solidFill>
                      <a:srgbClr val="FFFFFF"/>
                    </a:solidFill>
                  </a:tcPr>
                </a:tc>
              </a:tr>
              <a:tr h="598488">
                <a:tc>
                  <a:txBody>
                    <a:bodyPr lIns="123825" tIns="76200" rIns="104775" bIns="76200"/>
                    <a:lstStyle/>
                    <a:p>
                      <a:r>
                        <a:rPr sz="1700" b="1">
                          <a:solidFill>
                            <a:srgbClr val="142A3B"/>
                          </a:solidFill>
                          <a:latin typeface="Arial"/>
                          <a:ea typeface="Arial"/>
                          <a:cs typeface="Arial"/>
                        </a:rPr>
                        <a:t>Full-room AI</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Remaining work</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Gaze/lip signals, multiple students and pilot study</a:t>
                      </a:r>
                    </a:p>
                  </a:txBody>
                  <a:tcPr marL="91440" marR="91440" marT="45720" marB="45720" anchor="ctr">
                    <a:solidFill>
                      <a:srgbClr val="EAF1F5"/>
                    </a:solidFill>
                  </a:tcPr>
                </a:tc>
              </a:tr>
            </a:tbl>
          </a:graphicData>
        </a:graphic>
      </p:graphicFrame>
    </p:spTree>
    <p:extLst>
      <p:ext uri="{BB962C8B-B14F-4D97-AF65-F5344CB8AC3E}">
        <p14:creationId xmlns:p14="http://schemas.microsoft.com/office/powerpoint/2010/main" val="1623336177"/>
      </p:ext>
    </p:extLst>
  </p:cSld>
</p:sld>
</file>

<file path=ppt/slides/slide13.xml><?xml version="1.0" encoding="utf-8"?>
<p:sld xmlns:p="http://schemas.openxmlformats.org/presentationml/2006/main">
  <p:cSld>
    <p:bg>
      <p:bgPr>
        <a:solidFill xmlns:a="http://schemas.openxmlformats.org/drawingml/2006/main">
          <a:srgbClr val="0C1B2B"/>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8F78DA99-6978-44D1-819B-4CACE9B909F3}"/>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8D9E4"/>
                </a:solidFill>
                <a:latin typeface="Arial"/>
                <a:ea typeface="Arial"/>
                <a:cs typeface="Arial"/>
              </a:defRPr>
            </a:pPr>
            <a:r>
              <a:rPr sz="1050" b="1">
                <a:solidFill>
                  <a:srgbClr val="B8D9E4"/>
                </a:solidFill>
                <a:latin typeface="Arial"/>
                <a:ea typeface="Arial"/>
                <a:cs typeface="Arial"/>
              </a:rPr>
              <a:t>RECORDED EVIDENCE</a:t>
            </a:r>
          </a:p>
        </p:txBody>
      </p:sp>
      <p:sp>
        <p:nvSpPr>
          <p:cNvPr id="2" name="slide-title">
            <a:extLst xmlns:a="http://schemas.openxmlformats.org/drawingml/2006/main">
              <a:ext uri="{FF2B5EF4-FFF2-40B4-BE49-F238E27FC236}">
                <a16:creationId xmlns:a16="http://schemas.microsoft.com/office/drawing/2014/main" id="{FA12D8F6-C1C3-4F30-BAA3-2AA1B671A8A9}"/>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FFFFFF"/>
                </a:solidFill>
                <a:latin typeface="Arial"/>
                <a:ea typeface="Arial"/>
                <a:cs typeface="Arial"/>
              </a:defRPr>
            </a:pPr>
            <a:r>
              <a:rPr sz="3400" b="1">
                <a:solidFill>
                  <a:srgbClr val="FFFFFF"/>
                </a:solidFill>
                <a:latin typeface="Arial"/>
                <a:ea typeface="Arial"/>
                <a:cs typeface="Arial"/>
              </a:rPr>
              <a:t>Verification completed so far</a:t>
            </a:r>
          </a:p>
        </p:txBody>
      </p:sp>
      <p:sp>
        <p:nvSpPr>
          <p:cNvPr id="3" name="">
            <a:extLst xmlns:a="http://schemas.openxmlformats.org/drawingml/2006/main">
              <a:ext uri="{FF2B5EF4-FFF2-40B4-BE49-F238E27FC236}">
                <a16:creationId xmlns:a16="http://schemas.microsoft.com/office/drawing/2014/main" id="{82FD4FBB-1B59-4BE3-99F9-2B0AA5A30552}"/>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84255"/>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FF293F83-531D-4E61-A737-D5B3EB8553A2}"/>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B8D9E4"/>
                </a:solidFill>
                <a:latin typeface="Arial"/>
                <a:ea typeface="Arial"/>
                <a:cs typeface="Arial"/>
              </a:defRPr>
            </a:pPr>
            <a:r>
              <a:rPr sz="1000" b="1">
                <a:solidFill>
                  <a:srgbClr val="B8D9E4"/>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F82731AC-3BD4-4A4C-BDC6-539DA4080AB2}"/>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B8D9E4"/>
                </a:solidFill>
                <a:latin typeface="Arial"/>
                <a:ea typeface="Arial"/>
                <a:cs typeface="Arial"/>
              </a:defRPr>
            </a:pPr>
            <a:r>
              <a:rPr sz="1000" b="0">
                <a:solidFill>
                  <a:srgbClr val="B8D9E4"/>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4E7D2D01-FDE1-43E1-9A0E-5E06FFE87914}"/>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B8D9E4"/>
                </a:solidFill>
                <a:latin typeface="Arial"/>
                <a:ea typeface="Arial"/>
                <a:cs typeface="Arial"/>
              </a:defRPr>
            </a:pPr>
            <a:r>
              <a:rPr sz="1100" b="1">
                <a:solidFill>
                  <a:srgbClr val="B8D9E4"/>
                </a:solidFill>
                <a:latin typeface="Arial"/>
                <a:ea typeface="Arial"/>
                <a:cs typeface="Arial"/>
              </a:rPr>
              <a:t>13</a:t>
            </a:r>
          </a:p>
        </p:txBody>
      </p:sp>
      <p:sp>
        <p:nvSpPr>
          <p:cNvPr id="7" name="copy">
            <a:extLst xmlns:a="http://schemas.openxmlformats.org/drawingml/2006/main">
              <a:ext uri="{FF2B5EF4-FFF2-40B4-BE49-F238E27FC236}">
                <a16:creationId xmlns:a16="http://schemas.microsoft.com/office/drawing/2014/main" id="{710895A3-FC85-41E7-A228-6C6D7CA3B354}"/>
              </a:ext>
            </a:extLst>
          </p:cNvPr>
          <p:cNvSpPr>
            <a:spLocks xmlns:a="http://schemas.openxmlformats.org/drawingml/2006/main" noGrp="1"/>
          </p:cNvSpPr>
          <p:nvPr/>
        </p:nvSpPr>
        <p:spPr>
          <a:xfrm xmlns:a="http://schemas.openxmlformats.org/drawingml/2006/main">
            <a:off x="609600" y="20574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102</a:t>
            </a:r>
          </a:p>
        </p:txBody>
      </p:sp>
      <p:sp>
        <p:nvSpPr>
          <p:cNvPr id="8" name="copy">
            <a:extLst xmlns:a="http://schemas.openxmlformats.org/drawingml/2006/main">
              <a:ext uri="{FF2B5EF4-FFF2-40B4-BE49-F238E27FC236}">
                <a16:creationId xmlns:a16="http://schemas.microsoft.com/office/drawing/2014/main" id="{C4E8B253-9811-4034-B681-45AD523A3D1A}"/>
              </a:ext>
            </a:extLst>
          </p:cNvPr>
          <p:cNvSpPr>
            <a:spLocks xmlns:a="http://schemas.openxmlformats.org/drawingml/2006/main" noGrp="1"/>
          </p:cNvSpPr>
          <p:nvPr/>
        </p:nvSpPr>
        <p:spPr>
          <a:xfrm xmlns:a="http://schemas.openxmlformats.org/drawingml/2006/main">
            <a:off x="609600" y="31432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B8D9E4"/>
                </a:solidFill>
                <a:latin typeface="Arial"/>
                <a:ea typeface="Arial"/>
                <a:cs typeface="Arial"/>
              </a:defRPr>
            </a:pPr>
            <a:r>
              <a:rPr sz="2100" b="0">
                <a:solidFill>
                  <a:srgbClr val="B8D9E4"/>
                </a:solidFill>
                <a:latin typeface="Arial"/>
                <a:ea typeface="Arial"/>
                <a:cs typeface="Arial"/>
              </a:rPr>
              <a:t>AI and bridge regression checks</a:t>
            </a:r>
          </a:p>
        </p:txBody>
      </p:sp>
      <p:sp>
        <p:nvSpPr>
          <p:cNvPr id="9" name="copy">
            <a:extLst xmlns:a="http://schemas.openxmlformats.org/drawingml/2006/main">
              <a:ext uri="{FF2B5EF4-FFF2-40B4-BE49-F238E27FC236}">
                <a16:creationId xmlns:a16="http://schemas.microsoft.com/office/drawing/2014/main" id="{DF2D18CD-4BE6-4328-8AE2-62E77CFB9B7A}"/>
              </a:ext>
            </a:extLst>
          </p:cNvPr>
          <p:cNvSpPr>
            <a:spLocks xmlns:a="http://schemas.openxmlformats.org/drawingml/2006/main" noGrp="1"/>
          </p:cNvSpPr>
          <p:nvPr/>
        </p:nvSpPr>
        <p:spPr>
          <a:xfrm xmlns:a="http://schemas.openxmlformats.org/drawingml/2006/main">
            <a:off x="4419600" y="20574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272</a:t>
            </a:r>
          </a:p>
        </p:txBody>
      </p:sp>
      <p:sp>
        <p:nvSpPr>
          <p:cNvPr id="10" name="copy">
            <a:extLst xmlns:a="http://schemas.openxmlformats.org/drawingml/2006/main">
              <a:ext uri="{FF2B5EF4-FFF2-40B4-BE49-F238E27FC236}">
                <a16:creationId xmlns:a16="http://schemas.microsoft.com/office/drawing/2014/main" id="{C95C75BC-8B04-4B55-9E15-47104957890B}"/>
              </a:ext>
            </a:extLst>
          </p:cNvPr>
          <p:cNvSpPr>
            <a:spLocks xmlns:a="http://schemas.openxmlformats.org/drawingml/2006/main" noGrp="1"/>
          </p:cNvSpPr>
          <p:nvPr/>
        </p:nvSpPr>
        <p:spPr>
          <a:xfrm xmlns:a="http://schemas.openxmlformats.org/drawingml/2006/main">
            <a:off x="4419600" y="31432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B8D9E4"/>
                </a:solidFill>
                <a:latin typeface="Arial"/>
                <a:ea typeface="Arial"/>
                <a:cs typeface="Arial"/>
              </a:defRPr>
            </a:pPr>
            <a:r>
              <a:rPr sz="2100" b="0">
                <a:solidFill>
                  <a:srgbClr val="B8D9E4"/>
                </a:solidFill>
                <a:latin typeface="Arial"/>
                <a:ea typeface="Arial"/>
                <a:cs typeface="Arial"/>
              </a:rPr>
              <a:t>Backend checks in the prior full run</a:t>
            </a:r>
          </a:p>
        </p:txBody>
      </p:sp>
      <p:sp>
        <p:nvSpPr>
          <p:cNvPr id="11" name="copy">
            <a:extLst xmlns:a="http://schemas.openxmlformats.org/drawingml/2006/main">
              <a:ext uri="{FF2B5EF4-FFF2-40B4-BE49-F238E27FC236}">
                <a16:creationId xmlns:a16="http://schemas.microsoft.com/office/drawing/2014/main" id="{F4EDCFBC-4ACD-4301-89E3-F125692EE9CD}"/>
              </a:ext>
            </a:extLst>
          </p:cNvPr>
          <p:cNvSpPr>
            <a:spLocks xmlns:a="http://schemas.openxmlformats.org/drawingml/2006/main" noGrp="1"/>
          </p:cNvSpPr>
          <p:nvPr/>
        </p:nvSpPr>
        <p:spPr>
          <a:xfrm xmlns:a="http://schemas.openxmlformats.org/drawingml/2006/main">
            <a:off x="8229600" y="205740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80</a:t>
            </a:r>
          </a:p>
        </p:txBody>
      </p:sp>
      <p:sp>
        <p:nvSpPr>
          <p:cNvPr id="12" name="copy">
            <a:extLst xmlns:a="http://schemas.openxmlformats.org/drawingml/2006/main">
              <a:ext uri="{FF2B5EF4-FFF2-40B4-BE49-F238E27FC236}">
                <a16:creationId xmlns:a16="http://schemas.microsoft.com/office/drawing/2014/main" id="{85B62AA2-1079-4679-94D3-6EDAE12D4258}"/>
              </a:ext>
            </a:extLst>
          </p:cNvPr>
          <p:cNvSpPr>
            <a:spLocks xmlns:a="http://schemas.openxmlformats.org/drawingml/2006/main" noGrp="1"/>
          </p:cNvSpPr>
          <p:nvPr/>
        </p:nvSpPr>
        <p:spPr>
          <a:xfrm xmlns:a="http://schemas.openxmlformats.org/drawingml/2006/main">
            <a:off x="8229600" y="31432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B8D9E4"/>
                </a:solidFill>
                <a:latin typeface="Arial"/>
                <a:ea typeface="Arial"/>
                <a:cs typeface="Arial"/>
              </a:defRPr>
            </a:pPr>
            <a:r>
              <a:rPr sz="2100" b="0">
                <a:solidFill>
                  <a:srgbClr val="B8D9E4"/>
                </a:solidFill>
                <a:latin typeface="Arial"/>
                <a:ea typeface="Arial"/>
                <a:cs typeface="Arial"/>
              </a:rPr>
              <a:t>Checks in the latest focused CSV and role run</a:t>
            </a:r>
          </a:p>
        </p:txBody>
      </p:sp>
      <p:sp>
        <p:nvSpPr>
          <p:cNvPr id="13" name="">
            <a:extLst xmlns:a="http://schemas.openxmlformats.org/drawingml/2006/main">
              <a:ext uri="{FF2B5EF4-FFF2-40B4-BE49-F238E27FC236}">
                <a16:creationId xmlns:a16="http://schemas.microsoft.com/office/drawing/2014/main" id="{33B00B63-7DEE-4BA2-871B-E8F7CC62D334}"/>
              </a:ext>
            </a:extLst>
          </p:cNvPr>
          <p:cNvSpPr>
            <a:spLocks xmlns:a="http://schemas.openxmlformats.org/drawingml/2006/main" noGrp="1"/>
          </p:cNvSpPr>
          <p:nvPr/>
        </p:nvSpPr>
        <p:spPr>
          <a:xfrm xmlns:a="http://schemas.openxmlformats.org/drawingml/2006/main">
            <a:off x="609600" y="4238625"/>
            <a:ext cx="10972800" cy="9525"/>
          </a:xfrm>
          <a:prstGeom xmlns:a="http://schemas.openxmlformats.org/drawingml/2006/main" prst="rect">
            <a:avLst/>
          </a:prstGeom>
          <a:solidFill xmlns:a="http://schemas.openxmlformats.org/drawingml/2006/main">
            <a:srgbClr val="284255"/>
          </a:solidFill>
          <a:ln xmlns:a="http://schemas.openxmlformats.org/drawingml/2006/main" w="0">
            <a:noFill/>
          </a:ln>
        </p:spPr>
      </p:sp>
      <p:sp>
        <p:nvSpPr>
          <p:cNvPr id="14" name="copy">
            <a:extLst xmlns:a="http://schemas.openxmlformats.org/drawingml/2006/main">
              <a:ext uri="{FF2B5EF4-FFF2-40B4-BE49-F238E27FC236}">
                <a16:creationId xmlns:a16="http://schemas.microsoft.com/office/drawing/2014/main" id="{F97C4A79-AB69-40A6-BF16-E8D22D3B5F96}"/>
              </a:ext>
            </a:extLst>
          </p:cNvPr>
          <p:cNvSpPr>
            <a:spLocks xmlns:a="http://schemas.openxmlformats.org/drawingml/2006/main" noGrp="1"/>
          </p:cNvSpPr>
          <p:nvPr/>
        </p:nvSpPr>
        <p:spPr>
          <a:xfrm xmlns:a="http://schemas.openxmlformats.org/drawingml/2006/main">
            <a:off x="609600" y="44958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FFFFFF"/>
                </a:solidFill>
                <a:latin typeface="Arial"/>
                <a:ea typeface="Arial"/>
                <a:cs typeface="Arial"/>
              </a:defRPr>
            </a:pPr>
            <a:r>
              <a:rPr sz="2300" b="1">
                <a:solidFill>
                  <a:srgbClr val="FFFFFF"/>
                </a:solidFill>
                <a:latin typeface="Arial"/>
                <a:ea typeface="Arial"/>
                <a:cs typeface="Arial"/>
              </a:rPr>
              <a:t>Browser acceptance</a:t>
            </a:r>
          </a:p>
        </p:txBody>
      </p:sp>
      <p:sp>
        <p:nvSpPr>
          <p:cNvPr id="15" name="copy">
            <a:extLst xmlns:a="http://schemas.openxmlformats.org/drawingml/2006/main">
              <a:ext uri="{FF2B5EF4-FFF2-40B4-BE49-F238E27FC236}">
                <a16:creationId xmlns:a16="http://schemas.microsoft.com/office/drawing/2014/main" id="{666A737C-8FFA-4DE5-864A-1856D80FD29D}"/>
              </a:ext>
            </a:extLst>
          </p:cNvPr>
          <p:cNvSpPr>
            <a:spLocks xmlns:a="http://schemas.openxmlformats.org/drawingml/2006/main" noGrp="1"/>
          </p:cNvSpPr>
          <p:nvPr/>
        </p:nvSpPr>
        <p:spPr>
          <a:xfrm xmlns:a="http://schemas.openxmlformats.org/drawingml/2006/main">
            <a:off x="609600" y="5029200"/>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B8D9E4"/>
                </a:solidFill>
                <a:latin typeface="Arial"/>
                <a:ea typeface="Arial"/>
                <a:cs typeface="Arial"/>
              </a:defRPr>
            </a:pPr>
            <a:r>
              <a:rPr sz="2100" b="0">
                <a:solidFill>
                  <a:srgbClr val="B8D9E4"/>
                </a:solidFill>
                <a:latin typeface="Arial"/>
                <a:ea typeface="Arial"/>
                <a:cs typeface="Arial"/>
              </a:rPr>
              <a:t>Real-model phone/book alerts, saved evidence, case review, appeal resolution and repeat CSV import.</a:t>
            </a:r>
          </a:p>
        </p:txBody>
      </p:sp>
      <p:sp>
        <p:nvSpPr>
          <p:cNvPr id="16" name="copy">
            <a:extLst xmlns:a="http://schemas.openxmlformats.org/drawingml/2006/main">
              <a:ext uri="{FF2B5EF4-FFF2-40B4-BE49-F238E27FC236}">
                <a16:creationId xmlns:a16="http://schemas.microsoft.com/office/drawing/2014/main" id="{AFD5ABCC-1EE8-45A1-8AA0-A93938328B48}"/>
              </a:ext>
            </a:extLst>
          </p:cNvPr>
          <p:cNvSpPr>
            <a:spLocks xmlns:a="http://schemas.openxmlformats.org/drawingml/2006/main" noGrp="1"/>
          </p:cNvSpPr>
          <p:nvPr/>
        </p:nvSpPr>
        <p:spPr>
          <a:xfrm xmlns:a="http://schemas.openxmlformats.org/drawingml/2006/main">
            <a:off x="609600" y="592455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B8D9E4"/>
                </a:solidFill>
                <a:latin typeface="Arial"/>
                <a:ea typeface="Arial"/>
                <a:cs typeface="Arial"/>
              </a:defRPr>
            </a:pPr>
            <a:r>
              <a:rPr sz="1500" b="0">
                <a:solidFill>
                  <a:srgbClr val="B8D9E4"/>
                </a:solidFill>
                <a:latin typeface="Arial"/>
                <a:ea typeface="Arial"/>
                <a:cs typeface="Arial"/>
              </a:rPr>
              <a:t>These test groups overlap. A controlled accuracy benchmark is still pending.</a:t>
            </a:r>
          </a:p>
        </p:txBody>
      </p:sp>
    </p:spTree>
    <p:extLst>
      <p:ext uri="{BB962C8B-B14F-4D97-AF65-F5344CB8AC3E}">
        <p14:creationId xmlns:p14="http://schemas.microsoft.com/office/powerpoint/2010/main" val="703807702"/>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6" name="section">
            <a:extLst xmlns:a="http://schemas.openxmlformats.org/drawingml/2006/main">
              <a:ext uri="{FF2B5EF4-FFF2-40B4-BE49-F238E27FC236}">
                <a16:creationId xmlns:a16="http://schemas.microsoft.com/office/drawing/2014/main" id="{DC3BE878-1DC5-49FE-9400-59A529FCC96F}"/>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NEXT MILESTONES</a:t>
            </a:r>
          </a:p>
        </p:txBody>
      </p:sp>
      <p:sp>
        <p:nvSpPr>
          <p:cNvPr id="2" name="slide-title">
            <a:extLst xmlns:a="http://schemas.openxmlformats.org/drawingml/2006/main">
              <a:ext uri="{FF2B5EF4-FFF2-40B4-BE49-F238E27FC236}">
                <a16:creationId xmlns:a16="http://schemas.microsoft.com/office/drawing/2014/main" id="{A317EE11-5DB8-4990-8C06-F928EDA4D794}"/>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Remaining work before the university pilot</a:t>
            </a:r>
          </a:p>
        </p:txBody>
      </p:sp>
      <p:sp>
        <p:nvSpPr>
          <p:cNvPr id="3" name="">
            <a:extLst xmlns:a="http://schemas.openxmlformats.org/drawingml/2006/main">
              <a:ext uri="{FF2B5EF4-FFF2-40B4-BE49-F238E27FC236}">
                <a16:creationId xmlns:a16="http://schemas.microsoft.com/office/drawing/2014/main" id="{0DBBC911-DE2F-45BD-BE1D-2FD16C159BCD}"/>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583E776A-F2C0-49DF-A970-7CF77C334F8C}"/>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14E884EB-F651-43CE-BFC5-DC516A3955DC}"/>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58C8C3EC-2399-45AD-8ECD-09529E39D5AB}"/>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14</a:t>
            </a:r>
          </a:p>
        </p:txBody>
      </p:sp>
      <p:sp>
        <p:nvSpPr>
          <p:cNvPr id="7" name="copy">
            <a:extLst xmlns:a="http://schemas.openxmlformats.org/drawingml/2006/main">
              <a:ext uri="{FF2B5EF4-FFF2-40B4-BE49-F238E27FC236}">
                <a16:creationId xmlns:a16="http://schemas.microsoft.com/office/drawing/2014/main" id="{73A38520-AD69-48D8-BE80-E47FC636748B}"/>
              </a:ext>
            </a:extLst>
          </p:cNvPr>
          <p:cNvSpPr>
            <a:spLocks xmlns:a="http://schemas.openxmlformats.org/drawingml/2006/main" noGrp="1"/>
          </p:cNvSpPr>
          <p:nvPr/>
        </p:nvSpPr>
        <p:spPr>
          <a:xfrm xmlns:a="http://schemas.openxmlformats.org/drawingml/2006/main">
            <a:off x="609600" y="1981200"/>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Complete the detection scope</a:t>
            </a:r>
          </a:p>
        </p:txBody>
      </p:sp>
      <p:sp>
        <p:nvSpPr>
          <p:cNvPr id="8" name="copy">
            <a:extLst xmlns:a="http://schemas.openxmlformats.org/drawingml/2006/main">
              <a:ext uri="{FF2B5EF4-FFF2-40B4-BE49-F238E27FC236}">
                <a16:creationId xmlns:a16="http://schemas.microsoft.com/office/drawing/2014/main" id="{F7CBC38B-29FB-4864-BAF0-E7EBCA5D9326}"/>
              </a:ext>
            </a:extLst>
          </p:cNvPr>
          <p:cNvSpPr>
            <a:spLocks xmlns:a="http://schemas.openxmlformats.org/drawingml/2006/main" noGrp="1"/>
          </p:cNvSpPr>
          <p:nvPr/>
        </p:nvSpPr>
        <p:spPr>
          <a:xfrm xmlns:a="http://schemas.openxmlformats.org/drawingml/2006/main">
            <a:off x="609600" y="2390775"/>
            <a:ext cx="518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Add and validate gaze and lip movement; support multiple mapped students.</a:t>
            </a:r>
          </a:p>
        </p:txBody>
      </p:sp>
      <p:sp>
        <p:nvSpPr>
          <p:cNvPr id="9" name="copy">
            <a:extLst xmlns:a="http://schemas.openxmlformats.org/drawingml/2006/main">
              <a:ext uri="{FF2B5EF4-FFF2-40B4-BE49-F238E27FC236}">
                <a16:creationId xmlns:a16="http://schemas.microsoft.com/office/drawing/2014/main" id="{9CF27844-E815-4A77-B562-B61C6829E1E5}"/>
              </a:ext>
            </a:extLst>
          </p:cNvPr>
          <p:cNvSpPr>
            <a:spLocks xmlns:a="http://schemas.openxmlformats.org/drawingml/2006/main" noGrp="1"/>
          </p:cNvSpPr>
          <p:nvPr/>
        </p:nvSpPr>
        <p:spPr>
          <a:xfrm xmlns:a="http://schemas.openxmlformats.org/drawingml/2006/main">
            <a:off x="6400800" y="1981200"/>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Finish delivery integrations</a:t>
            </a:r>
          </a:p>
        </p:txBody>
      </p:sp>
      <p:sp>
        <p:nvSpPr>
          <p:cNvPr id="10" name="copy">
            <a:extLst xmlns:a="http://schemas.openxmlformats.org/drawingml/2006/main">
              <a:ext uri="{FF2B5EF4-FFF2-40B4-BE49-F238E27FC236}">
                <a16:creationId xmlns:a16="http://schemas.microsoft.com/office/drawing/2014/main" id="{42CBFD0B-BBD6-429D-99FF-9EB9B4DA6021}"/>
              </a:ext>
            </a:extLst>
          </p:cNvPr>
          <p:cNvSpPr>
            <a:spLocks xmlns:a="http://schemas.openxmlformats.org/drawingml/2006/main" noGrp="1"/>
          </p:cNvSpPr>
          <p:nvPr/>
        </p:nvSpPr>
        <p:spPr>
          <a:xfrm xmlns:a="http://schemas.openxmlformats.org/drawingml/2006/main">
            <a:off x="6400800" y="2390775"/>
            <a:ext cx="518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Verify the ESP32 alert node; add branded PDFs and email delivery.</a:t>
            </a:r>
          </a:p>
        </p:txBody>
      </p:sp>
      <p:sp>
        <p:nvSpPr>
          <p:cNvPr id="11" name="copy">
            <a:extLst xmlns:a="http://schemas.openxmlformats.org/drawingml/2006/main">
              <a:ext uri="{FF2B5EF4-FFF2-40B4-BE49-F238E27FC236}">
                <a16:creationId xmlns:a16="http://schemas.microsoft.com/office/drawing/2014/main" id="{E0AD38AA-F2D6-452C-A834-E6BA5FB74909}"/>
              </a:ext>
            </a:extLst>
          </p:cNvPr>
          <p:cNvSpPr>
            <a:spLocks xmlns:a="http://schemas.openxmlformats.org/drawingml/2006/main" noGrp="1"/>
          </p:cNvSpPr>
          <p:nvPr/>
        </p:nvSpPr>
        <p:spPr>
          <a:xfrm xmlns:a="http://schemas.openxmlformats.org/drawingml/2006/main">
            <a:off x="609600" y="3619500"/>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Run controlled evaluation</a:t>
            </a:r>
          </a:p>
        </p:txBody>
      </p:sp>
      <p:sp>
        <p:nvSpPr>
          <p:cNvPr id="12" name="copy">
            <a:extLst xmlns:a="http://schemas.openxmlformats.org/drawingml/2006/main">
              <a:ext uri="{FF2B5EF4-FFF2-40B4-BE49-F238E27FC236}">
                <a16:creationId xmlns:a16="http://schemas.microsoft.com/office/drawing/2014/main" id="{1BFC6778-ABF7-47DF-AC53-DE44BFFF49B1}"/>
              </a:ext>
            </a:extLst>
          </p:cNvPr>
          <p:cNvSpPr>
            <a:spLocks xmlns:a="http://schemas.openxmlformats.org/drawingml/2006/main" noGrp="1"/>
          </p:cNvSpPr>
          <p:nvPr/>
        </p:nvSpPr>
        <p:spPr>
          <a:xfrm xmlns:a="http://schemas.openxmlformats.org/drawingml/2006/main">
            <a:off x="609600" y="4029075"/>
            <a:ext cx="518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Measure precision, recall, false alarms, latency and classroom robustness.</a:t>
            </a:r>
          </a:p>
        </p:txBody>
      </p:sp>
      <p:sp>
        <p:nvSpPr>
          <p:cNvPr id="13" name="copy">
            <a:extLst xmlns:a="http://schemas.openxmlformats.org/drawingml/2006/main">
              <a:ext uri="{FF2B5EF4-FFF2-40B4-BE49-F238E27FC236}">
                <a16:creationId xmlns:a16="http://schemas.microsoft.com/office/drawing/2014/main" id="{4EDCCD17-D1E2-46A0-9352-7317CC8EFAF7}"/>
              </a:ext>
            </a:extLst>
          </p:cNvPr>
          <p:cNvSpPr>
            <a:spLocks xmlns:a="http://schemas.openxmlformats.org/drawingml/2006/main" noGrp="1"/>
          </p:cNvSpPr>
          <p:nvPr/>
        </p:nvSpPr>
        <p:spPr>
          <a:xfrm xmlns:a="http://schemas.openxmlformats.org/drawingml/2006/main">
            <a:off x="6400800" y="3619500"/>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00" b="1">
                <a:solidFill>
                  <a:srgbClr val="142A3B"/>
                </a:solidFill>
                <a:latin typeface="Arial"/>
                <a:ea typeface="Arial"/>
                <a:cs typeface="Arial"/>
              </a:defRPr>
            </a:pPr>
            <a:r>
              <a:rPr sz="2200" b="1">
                <a:solidFill>
                  <a:srgbClr val="142A3B"/>
                </a:solidFill>
                <a:latin typeface="Arial"/>
                <a:ea typeface="Arial"/>
                <a:cs typeface="Arial"/>
              </a:rPr>
              <a:t>Prepare institutional deployment</a:t>
            </a:r>
          </a:p>
        </p:txBody>
      </p:sp>
      <p:sp>
        <p:nvSpPr>
          <p:cNvPr id="14" name="copy">
            <a:extLst xmlns:a="http://schemas.openxmlformats.org/drawingml/2006/main">
              <a:ext uri="{FF2B5EF4-FFF2-40B4-BE49-F238E27FC236}">
                <a16:creationId xmlns:a16="http://schemas.microsoft.com/office/drawing/2014/main" id="{EEE75E9D-C439-4CC7-B3DD-5CADB766274C}"/>
              </a:ext>
            </a:extLst>
          </p:cNvPr>
          <p:cNvSpPr>
            <a:spLocks xmlns:a="http://schemas.openxmlformats.org/drawingml/2006/main" noGrp="1"/>
          </p:cNvSpPr>
          <p:nvPr/>
        </p:nvSpPr>
        <p:spPr>
          <a:xfrm xmlns:a="http://schemas.openxmlformats.org/drawingml/2006/main">
            <a:off x="6400800" y="4029075"/>
            <a:ext cx="518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Validate privacy and retention, consent, real roles and pilot operation.</a:t>
            </a:r>
          </a:p>
        </p:txBody>
      </p:sp>
      <p:sp>
        <p:nvSpPr>
          <p:cNvPr id="15" name="copy">
            <a:extLst xmlns:a="http://schemas.openxmlformats.org/drawingml/2006/main">
              <a:ext uri="{FF2B5EF4-FFF2-40B4-BE49-F238E27FC236}">
                <a16:creationId xmlns:a16="http://schemas.microsoft.com/office/drawing/2014/main" id="{246EF71A-2147-408C-8FDB-9778F7D3B742}"/>
              </a:ext>
            </a:extLst>
          </p:cNvPr>
          <p:cNvSpPr>
            <a:spLocks xmlns:a="http://schemas.openxmlformats.org/drawingml/2006/main" noGrp="1"/>
          </p:cNvSpPr>
          <p:nvPr/>
        </p:nvSpPr>
        <p:spPr>
          <a:xfrm xmlns:a="http://schemas.openxmlformats.org/drawingml/2006/main">
            <a:off x="609600" y="561975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1">
                <a:solidFill>
                  <a:srgbClr val="0B9AB9"/>
                </a:solidFill>
                <a:latin typeface="Arial"/>
                <a:ea typeface="Arial"/>
                <a:cs typeface="Arial"/>
              </a:defRPr>
            </a:pPr>
            <a:r>
              <a:rPr sz="2300" b="1">
                <a:solidFill>
                  <a:srgbClr val="0B9AB9"/>
                </a:solidFill>
                <a:latin typeface="Arial"/>
                <a:ea typeface="Arial"/>
                <a:cs typeface="Arial"/>
              </a:rPr>
              <a:t>Next milestone: validate the complete MVP in a real classroom.</a:t>
            </a:r>
          </a:p>
        </p:txBody>
      </p:sp>
    </p:spTree>
    <p:extLst>
      <p:ext uri="{BB962C8B-B14F-4D97-AF65-F5344CB8AC3E}">
        <p14:creationId xmlns:p14="http://schemas.microsoft.com/office/powerpoint/2010/main" val="563925969"/>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CCBBCCD4-9996-4C33-AEEC-7ADC8776040B}"/>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WORKING LOCAL WEBSITE</a:t>
            </a:r>
          </a:p>
        </p:txBody>
      </p:sp>
      <p:sp>
        <p:nvSpPr>
          <p:cNvPr id="2" name="slide-title">
            <a:extLst xmlns:a="http://schemas.openxmlformats.org/drawingml/2006/main">
              <a:ext uri="{FF2B5EF4-FFF2-40B4-BE49-F238E27FC236}">
                <a16:creationId xmlns:a16="http://schemas.microsoft.com/office/drawing/2014/main" id="{7848DEED-647F-4342-AAD7-89DD403AA5FD}"/>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Panel demonstration plan</a:t>
            </a:r>
          </a:p>
        </p:txBody>
      </p:sp>
      <p:sp>
        <p:nvSpPr>
          <p:cNvPr id="3" name="">
            <a:extLst xmlns:a="http://schemas.openxmlformats.org/drawingml/2006/main">
              <a:ext uri="{FF2B5EF4-FFF2-40B4-BE49-F238E27FC236}">
                <a16:creationId xmlns:a16="http://schemas.microsoft.com/office/drawing/2014/main" id="{B86E256B-9731-466B-8B96-63FC32EA0D4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912D4578-7871-4976-98DE-D8FA25801ACD}"/>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C642DF2C-328B-4594-B8D3-13C6E4D92FEF}"/>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DC7F4B07-11CD-4C69-8662-5B36D279C665}"/>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15</a:t>
            </a:r>
          </a:p>
        </p:txBody>
      </p:sp>
      <p:sp>
        <p:nvSpPr>
          <p:cNvPr id="7" name="copy">
            <a:extLst xmlns:a="http://schemas.openxmlformats.org/drawingml/2006/main">
              <a:ext uri="{FF2B5EF4-FFF2-40B4-BE49-F238E27FC236}">
                <a16:creationId xmlns:a16="http://schemas.microsoft.com/office/drawing/2014/main" id="{3E54BB82-D4E9-4C35-AB92-A29B76166716}"/>
              </a:ext>
            </a:extLst>
          </p:cNvPr>
          <p:cNvSpPr>
            <a:spLocks xmlns:a="http://schemas.openxmlformats.org/drawingml/2006/main" noGrp="1"/>
          </p:cNvSpPr>
          <p:nvPr/>
        </p:nvSpPr>
        <p:spPr>
          <a:xfrm xmlns:a="http://schemas.openxmlformats.org/drawingml/2006/main">
            <a:off x="609600" y="1971675"/>
            <a:ext cx="733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0B9AB9"/>
                </a:solidFill>
                <a:latin typeface="Arial"/>
                <a:ea typeface="Arial"/>
                <a:cs typeface="Arial"/>
              </a:defRPr>
            </a:pPr>
            <a:r>
              <a:rPr sz="2900" b="1">
                <a:solidFill>
                  <a:srgbClr val="0B9AB9"/>
                </a:solidFill>
                <a:latin typeface="Arial"/>
                <a:ea typeface="Arial"/>
                <a:cs typeface="Arial"/>
              </a:rPr>
              <a:t>01</a:t>
            </a:r>
          </a:p>
        </p:txBody>
      </p:sp>
      <p:sp>
        <p:nvSpPr>
          <p:cNvPr id="8" name="copy">
            <a:extLst xmlns:a="http://schemas.openxmlformats.org/drawingml/2006/main">
              <a:ext uri="{FF2B5EF4-FFF2-40B4-BE49-F238E27FC236}">
                <a16:creationId xmlns:a16="http://schemas.microsoft.com/office/drawing/2014/main" id="{4C085C7A-1B86-4A09-A426-1EA04A4CB601}"/>
              </a:ext>
            </a:extLst>
          </p:cNvPr>
          <p:cNvSpPr>
            <a:spLocks xmlns:a="http://schemas.openxmlformats.org/drawingml/2006/main" noGrp="1"/>
          </p:cNvSpPr>
          <p:nvPr/>
        </p:nvSpPr>
        <p:spPr>
          <a:xfrm xmlns:a="http://schemas.openxmlformats.org/drawingml/2006/main">
            <a:off x="1628775" y="19716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42A3B"/>
                </a:solidFill>
                <a:latin typeface="Arial"/>
                <a:ea typeface="Arial"/>
                <a:cs typeface="Arial"/>
              </a:defRPr>
            </a:pPr>
            <a:r>
              <a:rPr sz="2400" b="1">
                <a:solidFill>
                  <a:srgbClr val="142A3B"/>
                </a:solidFill>
                <a:latin typeface="Arial"/>
                <a:ea typeface="Arial"/>
                <a:cs typeface="Arial"/>
              </a:rPr>
              <a:t>Prepare the exam</a:t>
            </a:r>
          </a:p>
        </p:txBody>
      </p:sp>
      <p:sp>
        <p:nvSpPr>
          <p:cNvPr id="9" name="copy">
            <a:extLst xmlns:a="http://schemas.openxmlformats.org/drawingml/2006/main">
              <a:ext uri="{FF2B5EF4-FFF2-40B4-BE49-F238E27FC236}">
                <a16:creationId xmlns:a16="http://schemas.microsoft.com/office/drawing/2014/main" id="{0D585AB0-E2B2-4E90-9FE3-C1B1EBEFCA5F}"/>
              </a:ext>
            </a:extLst>
          </p:cNvPr>
          <p:cNvSpPr>
            <a:spLocks xmlns:a="http://schemas.openxmlformats.org/drawingml/2006/main" noGrp="1"/>
          </p:cNvSpPr>
          <p:nvPr/>
        </p:nvSpPr>
        <p:spPr>
          <a:xfrm xmlns:a="http://schemas.openxmlformats.org/drawingml/2006/main">
            <a:off x="1628775" y="240982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Import setup CSVs and show the linked schedule and seat roster.</a:t>
            </a:r>
          </a:p>
        </p:txBody>
      </p:sp>
      <p:sp>
        <p:nvSpPr>
          <p:cNvPr id="10" name="copy">
            <a:extLst xmlns:a="http://schemas.openxmlformats.org/drawingml/2006/main">
              <a:ext uri="{FF2B5EF4-FFF2-40B4-BE49-F238E27FC236}">
                <a16:creationId xmlns:a16="http://schemas.microsoft.com/office/drawing/2014/main" id="{99367CED-637D-4292-83DF-2488B7B7833F}"/>
              </a:ext>
            </a:extLst>
          </p:cNvPr>
          <p:cNvSpPr>
            <a:spLocks xmlns:a="http://schemas.openxmlformats.org/drawingml/2006/main" noGrp="1"/>
          </p:cNvSpPr>
          <p:nvPr/>
        </p:nvSpPr>
        <p:spPr>
          <a:xfrm xmlns:a="http://schemas.openxmlformats.org/drawingml/2006/main">
            <a:off x="609600" y="2971800"/>
            <a:ext cx="733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0B9AB9"/>
                </a:solidFill>
                <a:latin typeface="Arial"/>
                <a:ea typeface="Arial"/>
                <a:cs typeface="Arial"/>
              </a:defRPr>
            </a:pPr>
            <a:r>
              <a:rPr sz="2900" b="1">
                <a:solidFill>
                  <a:srgbClr val="0B9AB9"/>
                </a:solidFill>
                <a:latin typeface="Arial"/>
                <a:ea typeface="Arial"/>
                <a:cs typeface="Arial"/>
              </a:rPr>
              <a:t>02</a:t>
            </a:r>
          </a:p>
        </p:txBody>
      </p:sp>
      <p:sp>
        <p:nvSpPr>
          <p:cNvPr id="11" name="copy">
            <a:extLst xmlns:a="http://schemas.openxmlformats.org/drawingml/2006/main">
              <a:ext uri="{FF2B5EF4-FFF2-40B4-BE49-F238E27FC236}">
                <a16:creationId xmlns:a16="http://schemas.microsoft.com/office/drawing/2014/main" id="{56FE1BD2-2EDB-4BDA-A7A6-05840000B47B}"/>
              </a:ext>
            </a:extLst>
          </p:cNvPr>
          <p:cNvSpPr>
            <a:spLocks xmlns:a="http://schemas.openxmlformats.org/drawingml/2006/main" noGrp="1"/>
          </p:cNvSpPr>
          <p:nvPr/>
        </p:nvSpPr>
        <p:spPr>
          <a:xfrm xmlns:a="http://schemas.openxmlformats.org/drawingml/2006/main">
            <a:off x="1628775" y="2971800"/>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42A3B"/>
                </a:solidFill>
                <a:latin typeface="Arial"/>
                <a:ea typeface="Arial"/>
                <a:cs typeface="Arial"/>
              </a:defRPr>
            </a:pPr>
            <a:r>
              <a:rPr sz="2400" b="1">
                <a:solidFill>
                  <a:srgbClr val="142A3B"/>
                </a:solidFill>
                <a:latin typeface="Arial"/>
                <a:ea typeface="Arial"/>
                <a:cs typeface="Arial"/>
              </a:rPr>
              <a:t>Start monitoring</a:t>
            </a:r>
          </a:p>
        </p:txBody>
      </p:sp>
      <p:sp>
        <p:nvSpPr>
          <p:cNvPr id="12" name="copy">
            <a:extLst xmlns:a="http://schemas.openxmlformats.org/drawingml/2006/main">
              <a:ext uri="{FF2B5EF4-FFF2-40B4-BE49-F238E27FC236}">
                <a16:creationId xmlns:a16="http://schemas.microsoft.com/office/drawing/2014/main" id="{EF47ABBC-2435-4328-BAAE-1194AD35515B}"/>
              </a:ext>
            </a:extLst>
          </p:cNvPr>
          <p:cNvSpPr>
            <a:spLocks xmlns:a="http://schemas.openxmlformats.org/drawingml/2006/main" noGrp="1"/>
          </p:cNvSpPr>
          <p:nvPr/>
        </p:nvSpPr>
        <p:spPr>
          <a:xfrm xmlns:a="http://schemas.openxmlformats.org/drawingml/2006/main">
            <a:off x="1628775" y="340995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Use an assigned teacher session and select the registered seat.</a:t>
            </a:r>
          </a:p>
        </p:txBody>
      </p:sp>
      <p:sp>
        <p:nvSpPr>
          <p:cNvPr id="13" name="copy">
            <a:extLst xmlns:a="http://schemas.openxmlformats.org/drawingml/2006/main">
              <a:ext uri="{FF2B5EF4-FFF2-40B4-BE49-F238E27FC236}">
                <a16:creationId xmlns:a16="http://schemas.microsoft.com/office/drawing/2014/main" id="{7C97CBF4-A585-4F4D-A308-E88FC76A1D56}"/>
              </a:ext>
            </a:extLst>
          </p:cNvPr>
          <p:cNvSpPr>
            <a:spLocks xmlns:a="http://schemas.openxmlformats.org/drawingml/2006/main" noGrp="1"/>
          </p:cNvSpPr>
          <p:nvPr/>
        </p:nvSpPr>
        <p:spPr>
          <a:xfrm xmlns:a="http://schemas.openxmlformats.org/drawingml/2006/main">
            <a:off x="609600" y="3971925"/>
            <a:ext cx="733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0B9AB9"/>
                </a:solidFill>
                <a:latin typeface="Arial"/>
                <a:ea typeface="Arial"/>
                <a:cs typeface="Arial"/>
              </a:defRPr>
            </a:pPr>
            <a:r>
              <a:rPr sz="2900" b="1">
                <a:solidFill>
                  <a:srgbClr val="0B9AB9"/>
                </a:solidFill>
                <a:latin typeface="Arial"/>
                <a:ea typeface="Arial"/>
                <a:cs typeface="Arial"/>
              </a:rPr>
              <a:t>03</a:t>
            </a:r>
          </a:p>
        </p:txBody>
      </p:sp>
      <p:sp>
        <p:nvSpPr>
          <p:cNvPr id="14" name="copy">
            <a:extLst xmlns:a="http://schemas.openxmlformats.org/drawingml/2006/main">
              <a:ext uri="{FF2B5EF4-FFF2-40B4-BE49-F238E27FC236}">
                <a16:creationId xmlns:a16="http://schemas.microsoft.com/office/drawing/2014/main" id="{C2157787-9F82-4519-8656-B68987C5C1CB}"/>
              </a:ext>
            </a:extLst>
          </p:cNvPr>
          <p:cNvSpPr>
            <a:spLocks xmlns:a="http://schemas.openxmlformats.org/drawingml/2006/main" noGrp="1"/>
          </p:cNvSpPr>
          <p:nvPr/>
        </p:nvSpPr>
        <p:spPr>
          <a:xfrm xmlns:a="http://schemas.openxmlformats.org/drawingml/2006/main">
            <a:off x="1628775" y="397192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42A3B"/>
                </a:solidFill>
                <a:latin typeface="Arial"/>
                <a:ea typeface="Arial"/>
                <a:cs typeface="Arial"/>
              </a:defRPr>
            </a:pPr>
            <a:r>
              <a:rPr sz="2400" b="1">
                <a:solidFill>
                  <a:srgbClr val="142A3B"/>
                </a:solidFill>
                <a:latin typeface="Arial"/>
                <a:ea typeface="Arial"/>
                <a:cs typeface="Arial"/>
              </a:rPr>
              <a:t>Show the review process</a:t>
            </a:r>
          </a:p>
        </p:txBody>
      </p:sp>
      <p:sp>
        <p:nvSpPr>
          <p:cNvPr id="15" name="copy">
            <a:extLst xmlns:a="http://schemas.openxmlformats.org/drawingml/2006/main">
              <a:ext uri="{FF2B5EF4-FFF2-40B4-BE49-F238E27FC236}">
                <a16:creationId xmlns:a16="http://schemas.microsoft.com/office/drawing/2014/main" id="{112E06E8-B3FF-4298-9315-D30EBD13EB2A}"/>
              </a:ext>
            </a:extLst>
          </p:cNvPr>
          <p:cNvSpPr>
            <a:spLocks xmlns:a="http://schemas.openxmlformats.org/drawingml/2006/main" noGrp="1"/>
          </p:cNvSpPr>
          <p:nvPr/>
        </p:nvSpPr>
        <p:spPr>
          <a:xfrm xmlns:a="http://schemas.openxmlformats.org/drawingml/2006/main">
            <a:off x="1628775" y="441007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Detect a visible phone/book and open the saved evidence.</a:t>
            </a:r>
          </a:p>
        </p:txBody>
      </p:sp>
      <p:sp>
        <p:nvSpPr>
          <p:cNvPr id="16" name="copy">
            <a:extLst xmlns:a="http://schemas.openxmlformats.org/drawingml/2006/main">
              <a:ext uri="{FF2B5EF4-FFF2-40B4-BE49-F238E27FC236}">
                <a16:creationId xmlns:a16="http://schemas.microsoft.com/office/drawing/2014/main" id="{917FBE64-EEF4-4687-BCD9-8A77C7CA9ACC}"/>
              </a:ext>
            </a:extLst>
          </p:cNvPr>
          <p:cNvSpPr>
            <a:spLocks xmlns:a="http://schemas.openxmlformats.org/drawingml/2006/main" noGrp="1"/>
          </p:cNvSpPr>
          <p:nvPr/>
        </p:nvSpPr>
        <p:spPr>
          <a:xfrm xmlns:a="http://schemas.openxmlformats.org/drawingml/2006/main">
            <a:off x="609600" y="4972050"/>
            <a:ext cx="733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00" b="1">
                <a:solidFill>
                  <a:srgbClr val="0B9AB9"/>
                </a:solidFill>
                <a:latin typeface="Arial"/>
                <a:ea typeface="Arial"/>
                <a:cs typeface="Arial"/>
              </a:defRPr>
            </a:pPr>
            <a:r>
              <a:rPr sz="2900" b="1">
                <a:solidFill>
                  <a:srgbClr val="0B9AB9"/>
                </a:solidFill>
                <a:latin typeface="Arial"/>
                <a:ea typeface="Arial"/>
                <a:cs typeface="Arial"/>
              </a:rPr>
              <a:t>04</a:t>
            </a:r>
          </a:p>
        </p:txBody>
      </p:sp>
      <p:sp>
        <p:nvSpPr>
          <p:cNvPr id="17" name="copy">
            <a:extLst xmlns:a="http://schemas.openxmlformats.org/drawingml/2006/main">
              <a:ext uri="{FF2B5EF4-FFF2-40B4-BE49-F238E27FC236}">
                <a16:creationId xmlns:a16="http://schemas.microsoft.com/office/drawing/2014/main" id="{8ABC4761-216B-4A60-9D0F-2F2AA0259710}"/>
              </a:ext>
            </a:extLst>
          </p:cNvPr>
          <p:cNvSpPr>
            <a:spLocks xmlns:a="http://schemas.openxmlformats.org/drawingml/2006/main" noGrp="1"/>
          </p:cNvSpPr>
          <p:nvPr/>
        </p:nvSpPr>
        <p:spPr>
          <a:xfrm xmlns:a="http://schemas.openxmlformats.org/drawingml/2006/main">
            <a:off x="1628775" y="4972050"/>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42A3B"/>
                </a:solidFill>
                <a:latin typeface="Arial"/>
                <a:ea typeface="Arial"/>
                <a:cs typeface="Arial"/>
              </a:defRPr>
            </a:pPr>
            <a:r>
              <a:rPr sz="2400" b="1">
                <a:solidFill>
                  <a:srgbClr val="142A3B"/>
                </a:solidFill>
                <a:latin typeface="Arial"/>
                <a:ea typeface="Arial"/>
                <a:cs typeface="Arial"/>
              </a:rPr>
              <a:t>Resolve a case</a:t>
            </a:r>
          </a:p>
        </p:txBody>
      </p:sp>
      <p:sp>
        <p:nvSpPr>
          <p:cNvPr id="18" name="copy">
            <a:extLst xmlns:a="http://schemas.openxmlformats.org/drawingml/2006/main">
              <a:ext uri="{FF2B5EF4-FFF2-40B4-BE49-F238E27FC236}">
                <a16:creationId xmlns:a16="http://schemas.microsoft.com/office/drawing/2014/main" id="{A2B74FA9-ABF6-450F-A3E1-AE004AF671C6}"/>
              </a:ext>
            </a:extLst>
          </p:cNvPr>
          <p:cNvSpPr>
            <a:spLocks xmlns:a="http://schemas.openxmlformats.org/drawingml/2006/main" noGrp="1"/>
          </p:cNvSpPr>
          <p:nvPr/>
        </p:nvSpPr>
        <p:spPr>
          <a:xfrm xmlns:a="http://schemas.openxmlformats.org/drawingml/2006/main">
            <a:off x="1628775" y="541020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B7A"/>
                </a:solidFill>
                <a:latin typeface="Arial"/>
                <a:ea typeface="Arial"/>
                <a:cs typeface="Arial"/>
              </a:defRPr>
            </a:pPr>
            <a:r>
              <a:rPr sz="1800" b="0">
                <a:solidFill>
                  <a:srgbClr val="566B7A"/>
                </a:solidFill>
                <a:latin typeface="Arial"/>
                <a:ea typeface="Arial"/>
                <a:cs typeface="Arial"/>
              </a:rPr>
              <a:t>Show HOD review, the student appeal and the final outcome.</a:t>
            </a:r>
          </a:p>
        </p:txBody>
      </p:sp>
    </p:spTree>
    <p:extLst>
      <p:ext uri="{BB962C8B-B14F-4D97-AF65-F5344CB8AC3E}">
        <p14:creationId xmlns:p14="http://schemas.microsoft.com/office/powerpoint/2010/main" val="322445366"/>
      </p:ext>
    </p:extLst>
  </p:cSld>
</p:sld>
</file>

<file path=ppt/slides/slide16.xml><?xml version="1.0" encoding="utf-8"?>
<p:sld xmlns:p="http://schemas.openxmlformats.org/presentationml/2006/main">
  <p:cSld>
    <p:bg>
      <p:bgPr>
        <a:solidFill xmlns:a="http://schemas.openxmlformats.org/drawingml/2006/main">
          <a:srgbClr val="0C1B2B"/>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D8405296-54D4-495F-B505-CD6D8709EF8C}"/>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8D9E4"/>
                </a:solidFill>
                <a:latin typeface="Arial"/>
                <a:ea typeface="Arial"/>
                <a:cs typeface="Arial"/>
              </a:defRPr>
            </a:pPr>
            <a:r>
              <a:rPr sz="1050" b="1">
                <a:solidFill>
                  <a:srgbClr val="B8D9E4"/>
                </a:solidFill>
                <a:latin typeface="Arial"/>
                <a:ea typeface="Arial"/>
                <a:cs typeface="Arial"/>
              </a:rPr>
              <a:t>DISCUSSION</a:t>
            </a:r>
          </a:p>
        </p:txBody>
      </p:sp>
      <p:sp>
        <p:nvSpPr>
          <p:cNvPr id="2" name="slide-title">
            <a:extLst xmlns:a="http://schemas.openxmlformats.org/drawingml/2006/main">
              <a:ext uri="{FF2B5EF4-FFF2-40B4-BE49-F238E27FC236}">
                <a16:creationId xmlns:a16="http://schemas.microsoft.com/office/drawing/2014/main" id="{4565A35E-E7DA-4F53-9531-249FFF6F205F}"/>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5242A4B-D618-448F-8389-5854638ABB76}"/>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284255"/>
          </a:solidFill>
          <a:ln xmlns:a="http://schemas.openxmlformats.org/drawingml/2006/main" w="0">
            <a:noFill/>
          </a:ln>
        </p:spPr>
      </p:sp>
      <p:sp>
        <p:nvSpPr>
          <p:cNvPr id="4" name="brand-footer">
            <a:extLst xmlns:a="http://schemas.openxmlformats.org/drawingml/2006/main">
              <a:ext uri="{FF2B5EF4-FFF2-40B4-BE49-F238E27FC236}">
                <a16:creationId xmlns:a16="http://schemas.microsoft.com/office/drawing/2014/main" id="{1E278130-BCF5-4DEC-A5DC-67BD0698EA89}"/>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B8D9E4"/>
                </a:solidFill>
                <a:latin typeface="Arial"/>
                <a:ea typeface="Arial"/>
                <a:cs typeface="Arial"/>
              </a:defRPr>
            </a:pPr>
            <a:r>
              <a:rPr sz="1000" b="1">
                <a:solidFill>
                  <a:srgbClr val="B8D9E4"/>
                </a:solidFill>
                <a:latin typeface="Arial"/>
                <a:ea typeface="Arial"/>
                <a:cs typeface="Arial"/>
              </a:rPr>
              <a:t>PROCTORAI</a:t>
            </a:r>
          </a:p>
        </p:txBody>
      </p:sp>
      <p:sp>
        <p:nvSpPr>
          <p:cNvPr id="5" name="footer">
            <a:extLst xmlns:a="http://schemas.openxmlformats.org/drawingml/2006/main">
              <a:ext uri="{FF2B5EF4-FFF2-40B4-BE49-F238E27FC236}">
                <a16:creationId xmlns:a16="http://schemas.microsoft.com/office/drawing/2014/main" id="{B8697E4E-1B07-4518-B820-89E7B95CD4E4}"/>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B8D9E4"/>
                </a:solidFill>
                <a:latin typeface="Arial"/>
                <a:ea typeface="Arial"/>
                <a:cs typeface="Arial"/>
              </a:defRPr>
            </a:pPr>
            <a:r>
              <a:rPr sz="1000" b="0">
                <a:solidFill>
                  <a:srgbClr val="B8D9E4"/>
                </a:solidFill>
                <a:latin typeface="Arial"/>
                <a:ea typeface="Arial"/>
                <a:cs typeface="Arial"/>
              </a:rPr>
              <a:t>University panel presentation</a:t>
            </a:r>
          </a:p>
        </p:txBody>
      </p:sp>
      <p:sp>
        <p:nvSpPr>
          <p:cNvPr id="6" name="page">
            <a:extLst xmlns:a="http://schemas.openxmlformats.org/drawingml/2006/main">
              <a:ext uri="{FF2B5EF4-FFF2-40B4-BE49-F238E27FC236}">
                <a16:creationId xmlns:a16="http://schemas.microsoft.com/office/drawing/2014/main" id="{228761F3-7BDC-4BEB-99FF-53710EB51F28}"/>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B8D9E4"/>
                </a:solidFill>
                <a:latin typeface="Arial"/>
                <a:ea typeface="Arial"/>
                <a:cs typeface="Arial"/>
              </a:defRPr>
            </a:pPr>
            <a:r>
              <a:rPr sz="1100" b="1">
                <a:solidFill>
                  <a:srgbClr val="B8D9E4"/>
                </a:solidFill>
                <a:latin typeface="Arial"/>
                <a:ea typeface="Arial"/>
                <a:cs typeface="Arial"/>
              </a:rPr>
              <a:t>16</a:t>
            </a:r>
          </a:p>
        </p:txBody>
      </p:sp>
      <p:sp>
        <p:nvSpPr>
          <p:cNvPr id="7" name="copy">
            <a:extLst xmlns:a="http://schemas.openxmlformats.org/drawingml/2006/main">
              <a:ext uri="{FF2B5EF4-FFF2-40B4-BE49-F238E27FC236}">
                <a16:creationId xmlns:a16="http://schemas.microsoft.com/office/drawing/2014/main" id="{007AE2EF-18B4-4A14-96B1-5DBE1D7AF3F4}"/>
              </a:ext>
            </a:extLst>
          </p:cNvPr>
          <p:cNvSpPr>
            <a:spLocks xmlns:a="http://schemas.openxmlformats.org/drawingml/2006/main" noGrp="1"/>
          </p:cNvSpPr>
          <p:nvPr/>
        </p:nvSpPr>
        <p:spPr>
          <a:xfrm xmlns:a="http://schemas.openxmlformats.org/drawingml/2006/main">
            <a:off x="609600" y="16097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 working local prototype</a:t>
            </a:r>
          </a:p>
        </p:txBody>
      </p:sp>
      <p:sp>
        <p:nvSpPr>
          <p:cNvPr id="8" name="copy">
            <a:extLst xmlns:a="http://schemas.openxmlformats.org/drawingml/2006/main">
              <a:ext uri="{FF2B5EF4-FFF2-40B4-BE49-F238E27FC236}">
                <a16:creationId xmlns:a16="http://schemas.microsoft.com/office/drawing/2014/main" id="{A14D551C-AB8C-4B05-BEB6-5F9DAFAC592E}"/>
              </a:ext>
            </a:extLst>
          </p:cNvPr>
          <p:cNvSpPr>
            <a:spLocks xmlns:a="http://schemas.openxmlformats.org/drawingml/2006/main" noGrp="1"/>
          </p:cNvSpPr>
          <p:nvPr/>
        </p:nvSpPr>
        <p:spPr>
          <a:xfrm xmlns:a="http://schemas.openxmlformats.org/drawingml/2006/main">
            <a:off x="609600" y="2686050"/>
            <a:ext cx="10382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00" b="0">
                <a:solidFill>
                  <a:srgbClr val="B8D9E4"/>
                </a:solidFill>
                <a:latin typeface="Arial"/>
                <a:ea typeface="Arial"/>
                <a:cs typeface="Arial"/>
              </a:defRPr>
            </a:pPr>
            <a:r>
              <a:rPr sz="3100" b="0">
                <a:solidFill>
                  <a:srgbClr val="B8D9E4"/>
                </a:solidFill>
                <a:latin typeface="Arial"/>
                <a:ea typeface="Arial"/>
                <a:cs typeface="Arial"/>
              </a:rPr>
              <a:t>Monitoring, evidence and human review</a:t>
            </a:r>
          </a:p>
          <a:p xmlns:a="http://schemas.openxmlformats.org/drawingml/2006/main">
            <a:pPr>
              <a:defRPr sz="3100" b="0">
                <a:solidFill>
                  <a:srgbClr val="B8D9E4"/>
                </a:solidFill>
                <a:latin typeface="Arial"/>
                <a:ea typeface="Arial"/>
                <a:cs typeface="Arial"/>
              </a:defRPr>
            </a:pPr>
            <a:r>
              <a:rPr sz="3100" b="0">
                <a:solidFill>
                  <a:srgbClr val="B8D9E4"/>
                </a:solidFill>
                <a:latin typeface="Arial"/>
                <a:ea typeface="Arial"/>
                <a:cs typeface="Arial"/>
              </a:rPr>
              <a:t>connected in one platform.</a:t>
            </a:r>
          </a:p>
        </p:txBody>
      </p:sp>
      <p:sp>
        <p:nvSpPr>
          <p:cNvPr id="9" name="copy">
            <a:extLst xmlns:a="http://schemas.openxmlformats.org/drawingml/2006/main">
              <a:ext uri="{FF2B5EF4-FFF2-40B4-BE49-F238E27FC236}">
                <a16:creationId xmlns:a16="http://schemas.microsoft.com/office/drawing/2014/main" id="{5159114C-48FE-4571-952B-4F7A221FDA1A}"/>
              </a:ext>
            </a:extLst>
          </p:cNvPr>
          <p:cNvSpPr>
            <a:spLocks xmlns:a="http://schemas.openxmlformats.org/drawingml/2006/main" noGrp="1"/>
          </p:cNvSpPr>
          <p:nvPr/>
        </p:nvSpPr>
        <p:spPr>
          <a:xfrm xmlns:a="http://schemas.openxmlformats.org/drawingml/2006/main">
            <a:off x="609600" y="4419600"/>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00" b="0">
                <a:solidFill>
                  <a:srgbClr val="FFFFFF"/>
                </a:solidFill>
                <a:latin typeface="Arial"/>
                <a:ea typeface="Arial"/>
                <a:cs typeface="Arial"/>
              </a:defRPr>
            </a:pPr>
            <a:r>
              <a:rPr sz="2500" b="0">
                <a:solidFill>
                  <a:srgbClr val="FFFFFF"/>
                </a:solidFill>
                <a:latin typeface="Arial"/>
                <a:ea typeface="Arial"/>
                <a:cs typeface="Arial"/>
              </a:rPr>
              <a:t>Next milestone: a validated single-room university pilot.</a:t>
            </a:r>
          </a:p>
        </p:txBody>
      </p:sp>
      <p:sp>
        <p:nvSpPr>
          <p:cNvPr id="10" name="copy">
            <a:extLst xmlns:a="http://schemas.openxmlformats.org/drawingml/2006/main">
              <a:ext uri="{FF2B5EF4-FFF2-40B4-BE49-F238E27FC236}">
                <a16:creationId xmlns:a16="http://schemas.microsoft.com/office/drawing/2014/main" id="{050016E1-84B0-46D7-B57D-10EA3B6490A6}"/>
              </a:ext>
            </a:extLst>
          </p:cNvPr>
          <p:cNvSpPr>
            <a:spLocks xmlns:a="http://schemas.openxmlformats.org/drawingml/2006/main" noGrp="1"/>
          </p:cNvSpPr>
          <p:nvPr/>
        </p:nvSpPr>
        <p:spPr>
          <a:xfrm xmlns:a="http://schemas.openxmlformats.org/drawingml/2006/main">
            <a:off x="609600" y="55245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00" b="0">
                <a:solidFill>
                  <a:srgbClr val="B8D9E4"/>
                </a:solidFill>
                <a:latin typeface="Arial"/>
                <a:ea typeface="Arial"/>
                <a:cs typeface="Arial"/>
              </a:defRPr>
            </a:pPr>
            <a:r>
              <a:rPr sz="2300" b="0">
                <a:solidFill>
                  <a:srgbClr val="B8D9E4"/>
                </a:solidFill>
                <a:latin typeface="Arial"/>
                <a:ea typeface="Arial"/>
                <a:cs typeface="Arial"/>
              </a:rPr>
              <a:t>Questions and demonstration</a:t>
            </a:r>
          </a:p>
        </p:txBody>
      </p:sp>
    </p:spTree>
    <p:extLst>
      <p:ext uri="{BB962C8B-B14F-4D97-AF65-F5344CB8AC3E}">
        <p14:creationId xmlns:p14="http://schemas.microsoft.com/office/powerpoint/2010/main" val="1771542527"/>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6D252D85-6FC4-4047-991C-03C1F10AD486}"/>
              </a:ext>
            </a:extLst>
          </p:cNvPr>
          <p:cNvSpPr>
            <a:spLocks xmlns:a="http://schemas.openxmlformats.org/drawingml/2006/main" noGrp="1"/>
          </p:cNvSpPr>
          <p:nvPr/>
        </p:nvSpPr>
        <p:spPr>
          <a:xfrm xmlns:a="http://schemas.openxmlformats.org/drawingml/2006/main">
            <a:off x="609600" y="3238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0B9AB9"/>
                </a:solidFill>
                <a:latin typeface="Arial"/>
                <a:ea typeface="Arial"/>
                <a:cs typeface="Arial"/>
              </a:defRPr>
            </a:pPr>
            <a:r>
              <a:rPr sz="1050" b="1">
                <a:solidFill>
                  <a:srgbClr val="0B9AB9"/>
                </a:solidFill>
                <a:latin typeface="Arial"/>
                <a:ea typeface="Arial"/>
                <a:cs typeface="Arial"/>
              </a:rPr>
              <a:t>APPENDIX</a:t>
            </a:r>
          </a:p>
        </p:txBody>
      </p:sp>
      <p:sp>
        <p:nvSpPr>
          <p:cNvPr id="2" name="slide-title">
            <a:extLst xmlns:a="http://schemas.openxmlformats.org/drawingml/2006/main">
              <a:ext uri="{FF2B5EF4-FFF2-40B4-BE49-F238E27FC236}">
                <a16:creationId xmlns:a16="http://schemas.microsoft.com/office/drawing/2014/main" id="{093039C7-2C0D-4CFC-80E5-9B34C7E2C58D}"/>
              </a:ext>
            </a:extLst>
          </p:cNvPr>
          <p:cNvSpPr>
            <a:spLocks xmlns:a="http://schemas.openxmlformats.org/drawingml/2006/main" noGrp="1"/>
          </p:cNvSpPr>
          <p:nvPr/>
        </p:nvSpPr>
        <p:spPr>
          <a:xfrm xmlns:a="http://schemas.openxmlformats.org/drawingml/2006/main">
            <a:off x="609600" y="733425"/>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00" b="1">
                <a:solidFill>
                  <a:srgbClr val="142A3B"/>
                </a:solidFill>
                <a:latin typeface="Arial"/>
                <a:ea typeface="Arial"/>
                <a:cs typeface="Arial"/>
              </a:defRPr>
            </a:pPr>
            <a:r>
              <a:rPr sz="3400" b="1">
                <a:solidFill>
                  <a:srgbClr val="142A3B"/>
                </a:solidFill>
                <a:latin typeface="Arial"/>
                <a:ea typeface="Arial"/>
                <a:cs typeface="Arial"/>
              </a:rPr>
              <a:t>Evaluation targets in the project scope</a:t>
            </a:r>
          </a:p>
        </p:txBody>
      </p:sp>
      <p:sp>
        <p:nvSpPr>
          <p:cNvPr id="3" name="subtitle">
            <a:extLst xmlns:a="http://schemas.openxmlformats.org/drawingml/2006/main">
              <a:ext uri="{FF2B5EF4-FFF2-40B4-BE49-F238E27FC236}">
                <a16:creationId xmlns:a16="http://schemas.microsoft.com/office/drawing/2014/main" id="{EB3C6C4D-A0C5-4938-8777-C568475D324A}"/>
              </a:ext>
            </a:extLst>
          </p:cNvPr>
          <p:cNvSpPr>
            <a:spLocks xmlns:a="http://schemas.openxmlformats.org/drawingml/2006/main" noGrp="1"/>
          </p:cNvSpPr>
          <p:nvPr/>
        </p:nvSpPr>
        <p:spPr>
          <a:xfrm xmlns:a="http://schemas.openxmlformats.org/drawingml/2006/main">
            <a:off x="628650" y="14382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00" b="0">
                <a:solidFill>
                  <a:srgbClr val="566B7A"/>
                </a:solidFill>
                <a:latin typeface="Arial"/>
                <a:ea typeface="Arial"/>
                <a:cs typeface="Arial"/>
              </a:defRPr>
            </a:pPr>
            <a:r>
              <a:rPr sz="1700" b="0">
                <a:solidFill>
                  <a:srgbClr val="566B7A"/>
                </a:solidFill>
                <a:latin typeface="Arial"/>
                <a:ea typeface="Arial"/>
                <a:cs typeface="Arial"/>
              </a:rPr>
              <a:t>Targets for the controlled study. Performance benchmarking remains pending.</a:t>
            </a:r>
          </a:p>
        </p:txBody>
      </p:sp>
      <p:sp>
        <p:nvSpPr>
          <p:cNvPr id="4" name="">
            <a:extLst xmlns:a="http://schemas.openxmlformats.org/drawingml/2006/main">
              <a:ext uri="{FF2B5EF4-FFF2-40B4-BE49-F238E27FC236}">
                <a16:creationId xmlns:a16="http://schemas.microsoft.com/office/drawing/2014/main" id="{D9FA5966-906C-42F8-8915-A2D2970DD8CE}"/>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E1E7"/>
          </a:solidFill>
          <a:ln xmlns:a="http://schemas.openxmlformats.org/drawingml/2006/main" w="0">
            <a:noFill/>
          </a:ln>
        </p:spPr>
      </p:sp>
      <p:sp>
        <p:nvSpPr>
          <p:cNvPr id="5" name="brand-footer">
            <a:extLst xmlns:a="http://schemas.openxmlformats.org/drawingml/2006/main">
              <a:ext uri="{FF2B5EF4-FFF2-40B4-BE49-F238E27FC236}">
                <a16:creationId xmlns:a16="http://schemas.microsoft.com/office/drawing/2014/main" id="{D8F57C5F-C916-45EE-9558-54117F90794C}"/>
              </a:ext>
            </a:extLst>
          </p:cNvPr>
          <p:cNvSpPr>
            <a:spLocks xmlns:a="http://schemas.openxmlformats.org/drawingml/2006/main" noGrp="1"/>
          </p:cNvSpPr>
          <p:nvPr/>
        </p:nvSpPr>
        <p:spPr>
          <a:xfrm xmlns:a="http://schemas.openxmlformats.org/drawingml/2006/main">
            <a:off x="609600" y="6448425"/>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1">
                <a:solidFill>
                  <a:srgbClr val="566B7A"/>
                </a:solidFill>
                <a:latin typeface="Arial"/>
                <a:ea typeface="Arial"/>
                <a:cs typeface="Arial"/>
              </a:defRPr>
            </a:pPr>
            <a:r>
              <a:rPr sz="1000" b="1">
                <a:solidFill>
                  <a:srgbClr val="566B7A"/>
                </a:solidFill>
                <a:latin typeface="Arial"/>
                <a:ea typeface="Arial"/>
                <a:cs typeface="Arial"/>
              </a:rPr>
              <a:t>PROCTORAI</a:t>
            </a:r>
          </a:p>
        </p:txBody>
      </p:sp>
      <p:sp>
        <p:nvSpPr>
          <p:cNvPr id="6" name="footer">
            <a:extLst xmlns:a="http://schemas.openxmlformats.org/drawingml/2006/main">
              <a:ext uri="{FF2B5EF4-FFF2-40B4-BE49-F238E27FC236}">
                <a16:creationId xmlns:a16="http://schemas.microsoft.com/office/drawing/2014/main" id="{DA63AC73-7B10-4667-AA63-385306F1DA8C}"/>
              </a:ext>
            </a:extLst>
          </p:cNvPr>
          <p:cNvSpPr>
            <a:spLocks xmlns:a="http://schemas.openxmlformats.org/drawingml/2006/main" noGrp="1"/>
          </p:cNvSpPr>
          <p:nvPr/>
        </p:nvSpPr>
        <p:spPr>
          <a:xfrm xmlns:a="http://schemas.openxmlformats.org/drawingml/2006/main">
            <a:off x="2219325" y="6448425"/>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000" b="0">
                <a:solidFill>
                  <a:srgbClr val="566B7A"/>
                </a:solidFill>
                <a:latin typeface="Arial"/>
                <a:ea typeface="Arial"/>
                <a:cs typeface="Arial"/>
              </a:defRPr>
            </a:pPr>
            <a:r>
              <a:rPr sz="1000" b="0">
                <a:solidFill>
                  <a:srgbClr val="566B7A"/>
                </a:solidFill>
                <a:latin typeface="Arial"/>
                <a:ea typeface="Arial"/>
                <a:cs typeface="Arial"/>
              </a:rPr>
              <a:t>University panel presentation</a:t>
            </a:r>
          </a:p>
        </p:txBody>
      </p:sp>
      <p:sp>
        <p:nvSpPr>
          <p:cNvPr id="7" name="page">
            <a:extLst xmlns:a="http://schemas.openxmlformats.org/drawingml/2006/main">
              <a:ext uri="{FF2B5EF4-FFF2-40B4-BE49-F238E27FC236}">
                <a16:creationId xmlns:a16="http://schemas.microsoft.com/office/drawing/2014/main" id="{E4260E0B-73D3-4C8A-8966-F32B734FB4D8}"/>
              </a:ext>
            </a:extLst>
          </p:cNvPr>
          <p:cNvSpPr>
            <a:spLocks xmlns:a="http://schemas.openxmlformats.org/drawingml/2006/main" noGrp="1"/>
          </p:cNvSpPr>
          <p:nvPr/>
        </p:nvSpPr>
        <p:spPr>
          <a:xfrm xmlns:a="http://schemas.openxmlformats.org/drawingml/2006/main">
            <a:off x="110585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00" b="1">
                <a:solidFill>
                  <a:srgbClr val="566B7A"/>
                </a:solidFill>
                <a:latin typeface="Arial"/>
                <a:ea typeface="Arial"/>
                <a:cs typeface="Arial"/>
              </a:defRPr>
            </a:pPr>
            <a:r>
              <a:rPr sz="1100" b="1">
                <a:solidFill>
                  <a:srgbClr val="566B7A"/>
                </a:solidFill>
                <a:latin typeface="Arial"/>
                <a:ea typeface="Arial"/>
                <a:cs typeface="Arial"/>
              </a:rPr>
              <a:t>17</a:t>
            </a:r>
          </a:p>
        </p:txBody>
      </p:sp>
      <p:graphicFrame>
        <p:nvGraphicFramePr>
          <p:cNvPr id="16" name=""/>
          <p:cNvGraphicFramePr/>
          <p:nvPr/>
        </p:nvGraphicFramePr>
        <p:xfrm>
          <a:off xmlns:a="http://schemas.openxmlformats.org/drawingml/2006/main" x="609600" y="2076450"/>
          <a:ext xmlns:a="http://schemas.openxmlformats.org/drawingml/2006/main" cx="10972800" cy="3943350"/>
        </p:xfrm>
        <a:graphic xmlns:a="http://schemas.openxmlformats.org/drawingml/2006/main">
          <a:graphicData uri="http://schemas.openxmlformats.org/drawingml/2006/table">
            <a:tbl>
              <a:tblPr/>
              <a:tblGrid>
                <a:gridCol w="3209925"/>
                <a:gridCol w="2905125"/>
                <a:gridCol w="4857750"/>
              </a:tblGrid>
              <a:tr h="476250">
                <a:tc>
                  <a:txBody>
                    <a:bodyPr lIns="123825" tIns="76200" rIns="104775" bIns="76200"/>
                    <a:lstStyle/>
                    <a:p>
                      <a:r>
                        <a:rPr sz="1600" b="1">
                          <a:solidFill>
                            <a:srgbClr val="FFFFFF"/>
                          </a:solidFill>
                          <a:latin typeface="Arial"/>
                          <a:ea typeface="Arial"/>
                          <a:cs typeface="Arial"/>
                        </a:rPr>
                        <a:t>Measure</a:t>
                      </a:r>
                    </a:p>
                  </a:txBody>
                  <a:tcPr marL="91440" marR="91440" marT="45720" marB="45720" anchor="ctr">
                    <a:solidFill>
                      <a:srgbClr val="0C1B2B"/>
                    </a:solidFill>
                  </a:tcPr>
                </a:tc>
                <a:tc>
                  <a:txBody>
                    <a:bodyPr lIns="123825" tIns="76200" rIns="104775" bIns="76200"/>
                    <a:lstStyle/>
                    <a:p>
                      <a:r>
                        <a:rPr sz="1600" b="1">
                          <a:solidFill>
                            <a:srgbClr val="FFFFFF"/>
                          </a:solidFill>
                          <a:latin typeface="Arial"/>
                          <a:ea typeface="Arial"/>
                          <a:cs typeface="Arial"/>
                        </a:rPr>
                        <a:t>Scope target</a:t>
                      </a:r>
                    </a:p>
                  </a:txBody>
                  <a:tcPr marL="91440" marR="91440" marT="45720" marB="45720" anchor="ctr">
                    <a:solidFill>
                      <a:srgbClr val="0C1B2B"/>
                    </a:solidFill>
                  </a:tcPr>
                </a:tc>
                <a:tc>
                  <a:txBody>
                    <a:bodyPr lIns="123825" tIns="76200" rIns="104775" bIns="76200"/>
                    <a:lstStyle/>
                    <a:p>
                      <a:r>
                        <a:rPr sz="1600" b="1">
                          <a:solidFill>
                            <a:srgbClr val="FFFFFF"/>
                          </a:solidFill>
                          <a:latin typeface="Arial"/>
                          <a:ea typeface="Arial"/>
                          <a:cs typeface="Arial"/>
                        </a:rPr>
                        <a:t>Verification plan</a:t>
                      </a:r>
                    </a:p>
                  </a:txBody>
                  <a:tcPr marL="91440" marR="91440" marT="45720" marB="45720" anchor="ctr">
                    <a:solidFill>
                      <a:srgbClr val="0C1B2B"/>
                    </a:solidFill>
                  </a:tcPr>
                </a:tc>
              </a:tr>
              <a:tr h="577850">
                <a:tc>
                  <a:txBody>
                    <a:bodyPr lIns="123825" tIns="76200" rIns="104775" bIns="76200"/>
                    <a:lstStyle/>
                    <a:p>
                      <a:r>
                        <a:rPr sz="1700" b="1">
                          <a:solidFill>
                            <a:srgbClr val="142A3B"/>
                          </a:solidFill>
                          <a:latin typeface="Arial"/>
                          <a:ea typeface="Arial"/>
                          <a:cs typeface="Arial"/>
                        </a:rPr>
                        <a:t>Phone detection</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Precision ≥85%</a:t>
                      </a:r>
                    </a:p>
                    <a:p>
                      <a:r>
                        <a:rPr sz="1700" b="0">
                          <a:solidFill>
                            <a:srgbClr val="142A3B"/>
                          </a:solidFill>
                          <a:latin typeface="Arial"/>
                          <a:ea typeface="Arial"/>
                          <a:cs typeface="Arial"/>
                        </a:rPr>
                        <a:t>Recall ≥80%</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50 phone-visible and 50 absent events</a:t>
                      </a:r>
                    </a:p>
                  </a:txBody>
                  <a:tcPr marL="91440" marR="91440" marT="45720" marB="45720" anchor="ctr">
                    <a:solidFill>
                      <a:srgbClr val="FFFFFF"/>
                    </a:solidFill>
                  </a:tcPr>
                </a:tc>
              </a:tr>
              <a:tr h="577850">
                <a:tc>
                  <a:txBody>
                    <a:bodyPr lIns="123825" tIns="76200" rIns="104775" bIns="76200"/>
                    <a:lstStyle/>
                    <a:p>
                      <a:r>
                        <a:rPr sz="1700" b="1">
                          <a:solidFill>
                            <a:srgbClr val="142A3B"/>
                          </a:solidFill>
                          <a:latin typeface="Arial"/>
                          <a:ea typeface="Arial"/>
                          <a:cs typeface="Arial"/>
                        </a:rPr>
                        <a:t>Head/gaze false alarms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≤10%</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Scripted innocent behavior checks</a:t>
                      </a:r>
                    </a:p>
                  </a:txBody>
                  <a:tcPr marL="91440" marR="91440" marT="45720" marB="45720" anchor="ctr">
                    <a:solidFill>
                      <a:srgbClr val="EAF1F5"/>
                    </a:solidFill>
                  </a:tcPr>
                </a:tc>
              </a:tr>
              <a:tr h="577850">
                <a:tc>
                  <a:txBody>
                    <a:bodyPr lIns="123825" tIns="76200" rIns="104775" bIns="76200"/>
                    <a:lstStyle/>
                    <a:p>
                      <a:r>
                        <a:rPr sz="1700" b="1">
                          <a:solidFill>
                            <a:srgbClr val="142A3B"/>
                          </a:solidFill>
                          <a:latin typeface="Arial"/>
                          <a:ea typeface="Arial"/>
                          <a:cs typeface="Arial"/>
                        </a:rPr>
                        <a:t>AI throughput</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≥6 processed FPS</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Inference across visible students</a:t>
                      </a:r>
                    </a:p>
                  </a:txBody>
                  <a:tcPr marL="91440" marR="91440" marT="45720" marB="45720" anchor="ctr">
                    <a:solidFill>
                      <a:srgbClr val="FFFFFF"/>
                    </a:solidFill>
                  </a:tcPr>
                </a:tc>
              </a:tr>
              <a:tr h="577850">
                <a:tc>
                  <a:txBody>
                    <a:bodyPr lIns="123825" tIns="76200" rIns="104775" bIns="76200"/>
                    <a:lstStyle/>
                    <a:p>
                      <a:r>
                        <a:rPr sz="1700" b="1">
                          <a:solidFill>
                            <a:srgbClr val="142A3B"/>
                          </a:solidFill>
                          <a:latin typeface="Arial"/>
                          <a:ea typeface="Arial"/>
                          <a:cs typeface="Arial"/>
                        </a:rPr>
                        <a:t>Physical alert latency</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≤500 ms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Detection-to-ESP32 activation time</a:t>
                      </a:r>
                    </a:p>
                  </a:txBody>
                  <a:tcPr marL="91440" marR="91440" marT="45720" marB="45720" anchor="ctr">
                    <a:solidFill>
                      <a:srgbClr val="EAF1F5"/>
                    </a:solidFill>
                  </a:tcPr>
                </a:tc>
              </a:tr>
              <a:tr h="577850">
                <a:tc>
                  <a:txBody>
                    <a:bodyPr lIns="123825" tIns="76200" rIns="104775" bIns="76200"/>
                    <a:lstStyle/>
                    <a:p>
                      <a:r>
                        <a:rPr sz="1700" b="1">
                          <a:solidFill>
                            <a:srgbClr val="142A3B"/>
                          </a:solidFill>
                          <a:latin typeface="Arial"/>
                          <a:ea typeface="Arial"/>
                          <a:cs typeface="Arial"/>
                        </a:rPr>
                        <a:t>Document and email</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PDF ≤10 seconds</a:t>
                      </a:r>
                    </a:p>
                    <a:p>
                      <a:r>
                        <a:rPr sz="1700" b="0">
                          <a:solidFill>
                            <a:srgbClr val="142A3B"/>
                          </a:solidFill>
                          <a:latin typeface="Arial"/>
                          <a:ea typeface="Arial"/>
                          <a:cs typeface="Arial"/>
                        </a:rPr>
                        <a:t>Email delivery ≥95%</a:t>
                      </a:r>
                    </a:p>
                  </a:txBody>
                  <a:tcPr marL="91440" marR="91440" marT="45720" marB="45720" anchor="ctr">
                    <a:solidFill>
                      <a:srgbClr val="FFFFFF"/>
                    </a:solidFill>
                  </a:tcPr>
                </a:tc>
                <a:tc>
                  <a:txBody>
                    <a:bodyPr lIns="123825" tIns="76200" rIns="104775" bIns="76200"/>
                    <a:lstStyle/>
                    <a:p>
                      <a:r>
                        <a:rPr sz="1700" b="0">
                          <a:solidFill>
                            <a:srgbClr val="142A3B"/>
                          </a:solidFill>
                          <a:latin typeface="Arial"/>
                          <a:ea typeface="Arial"/>
                          <a:cs typeface="Arial"/>
                        </a:rPr>
                        <a:t>Timed PDF generation and 20 email trials</a:t>
                      </a:r>
                    </a:p>
                  </a:txBody>
                  <a:tcPr marL="91440" marR="91440" marT="45720" marB="45720" anchor="ctr">
                    <a:solidFill>
                      <a:srgbClr val="FFFFFF"/>
                    </a:solidFill>
                  </a:tcPr>
                </a:tc>
              </a:tr>
              <a:tr h="577850">
                <a:tc>
                  <a:txBody>
                    <a:bodyPr lIns="123825" tIns="76200" rIns="104775" bIns="76200"/>
                    <a:lstStyle/>
                    <a:p>
                      <a:r>
                        <a:rPr sz="1700" b="1">
                          <a:solidFill>
                            <a:srgbClr val="142A3B"/>
                          </a:solidFill>
                          <a:latin typeface="Arial"/>
                          <a:ea typeface="Arial"/>
                          <a:cs typeface="Arial"/>
                        </a:rPr>
                        <a:t>Portal role isolation</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0 unauthorized accesses</a:t>
                      </a:r>
                    </a:p>
                  </a:txBody>
                  <a:tcPr marL="91440" marR="91440" marT="45720" marB="45720" anchor="ctr">
                    <a:solidFill>
                      <a:srgbClr val="EAF1F5"/>
                    </a:solidFill>
                  </a:tcPr>
                </a:tc>
                <a:tc>
                  <a:txBody>
                    <a:bodyPr lIns="123825" tIns="76200" rIns="104775" bIns="76200"/>
                    <a:lstStyle/>
                    <a:p>
                      <a:r>
                        <a:rPr sz="1700" b="0">
                          <a:solidFill>
                            <a:srgbClr val="142A3B"/>
                          </a:solidFill>
                          <a:latin typeface="Arial"/>
                          <a:ea typeface="Arial"/>
                          <a:cs typeface="Arial"/>
                        </a:rPr>
                        <a:t>Forbidden-route checks for each role</a:t>
                      </a:r>
                    </a:p>
                  </a:txBody>
                  <a:tcPr marL="91440" marR="91440" marT="45720" marB="45720" anchor="ctr">
                    <a:solidFill>
                      <a:srgbClr val="EAF1F5"/>
                    </a:solidFill>
                  </a:tcPr>
                </a:tc>
              </a:tr>
            </a:tbl>
          </a:graphicData>
        </a:graphic>
      </p:graphicFrame>
    </p:spTree>
    <p:extLst>
      <p:ext uri="{BB962C8B-B14F-4D97-AF65-F5344CB8AC3E}">
        <p14:creationId xmlns:p14="http://schemas.microsoft.com/office/powerpoint/2010/main" val="803969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2026-10-04T18:38:40.7820000Z</dcterms:created>
  <dcterms:modified xsi:type="dcterms:W3CDTF">2026-10-04T18:38:40.7820000Z</dcterms:modified>
</coreProperties>
</file>